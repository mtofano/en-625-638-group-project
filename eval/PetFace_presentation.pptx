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8263"/>
  <p:notesSz cx="5148263"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1842" autoAdjust="0"/>
  </p:normalViewPr>
  <p:slideViewPr>
    <p:cSldViewPr snapToGrid="0" snapToObjects="1">
      <p:cViewPr varScale="1">
        <p:scale>
          <a:sx n="113" d="100"/>
          <a:sy n="113" d="100"/>
        </p:scale>
        <p:origin x="108" y="4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Records</c:v>
                </c:pt>
              </c:strCache>
            </c:strRef>
          </c:tx>
          <c:spPr>
            <a:solidFill>
              <a:srgbClr val="3A6EA5"/>
            </a:solidFill>
            <a:effectLst/>
          </c:spPr>
          <c:invertIfNegative val="0"/>
          <c:cat>
            <c:strRef>
              <c:f>Sheet1!$A$2:$A$7</c:f>
              <c:strCache>
                <c:ptCount val="6"/>
                <c:pt idx="0">
                  <c:v>Cat</c:v>
                </c:pt>
                <c:pt idx="1">
                  <c:v>Dog</c:v>
                </c:pt>
                <c:pt idx="2">
                  <c:v>Rabbit</c:v>
                </c:pt>
                <c:pt idx="3">
                  <c:v>Parakeet</c:v>
                </c:pt>
                <c:pt idx="4">
                  <c:v>Javasparrow</c:v>
                </c:pt>
                <c:pt idx="5">
                  <c:v>Others</c:v>
                </c:pt>
              </c:strCache>
            </c:strRef>
          </c:cat>
          <c:val>
            <c:numRef>
              <c:f>Sheet1!$B$2:$B$7</c:f>
              <c:numCache>
                <c:formatCode>General</c:formatCode>
                <c:ptCount val="6"/>
                <c:pt idx="0">
                  <c:v>164.1</c:v>
                </c:pt>
                <c:pt idx="1">
                  <c:v>71.613</c:v>
                </c:pt>
                <c:pt idx="2">
                  <c:v>6.4649999999999999</c:v>
                </c:pt>
                <c:pt idx="3">
                  <c:v>4.7270000000000003</c:v>
                </c:pt>
                <c:pt idx="4">
                  <c:v>4</c:v>
                </c:pt>
                <c:pt idx="5">
                  <c:v>6.5789999999999997</c:v>
                </c:pt>
              </c:numCache>
            </c:numRef>
          </c:val>
          <c:extLst>
            <c:ext xmlns:c16="http://schemas.microsoft.com/office/drawing/2014/chart" uri="{C3380CC4-5D6E-409C-BE32-E72D297353CC}">
              <c16:uniqueId val="{00000000-2676-4D15-9CC7-B383B28152B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Arial"/>
              </a:defRPr>
            </a:pPr>
            <a:endParaRPr lang="en-US"/>
          </a:p>
        </c:txPr>
        <c:crossAx val="2094734552"/>
        <c:crosses val="autoZero"/>
        <c:auto val="1"/>
        <c:lblAlgn val="ctr"/>
        <c:lblOffset val="100"/>
        <c:noMultiLvlLbl val="1"/>
      </c:catAx>
      <c:valAx>
        <c:axId val="2094734552"/>
        <c:scaling>
          <c:orientation val="minMax"/>
          <c:max val="17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F2A44"/>
                </a:solidFill>
                <a:latin typeface="Arial"/>
              </a:defRPr>
            </a:pPr>
            <a:endParaRPr lang="en-US"/>
          </a:p>
        </c:txPr>
        <c:crossAx val="2094734554"/>
        <c:crosses val="autoZero"/>
        <c:crossBetween val="between"/>
        <c:majorUnit val="3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Known</c:v>
                </c:pt>
              </c:strCache>
            </c:strRef>
          </c:tx>
          <c:spPr>
            <a:solidFill>
              <a:srgbClr val="3A6EA5"/>
            </a:solidFill>
            <a:effectLst/>
          </c:spPr>
          <c:invertIfNegative val="0"/>
          <c:cat>
            <c:strRef>
              <c:f>Sheet1!$A$2:$A$5</c:f>
              <c:strCache>
                <c:ptCount val="4"/>
                <c:pt idx="0">
                  <c:v>Breed</c:v>
                </c:pt>
                <c:pt idx="1">
                  <c:v>Color1</c:v>
                </c:pt>
                <c:pt idx="2">
                  <c:v>Color2</c:v>
                </c:pt>
                <c:pt idx="3">
                  <c:v>Gender</c:v>
                </c:pt>
              </c:strCache>
            </c:strRef>
          </c:cat>
          <c:val>
            <c:numRef>
              <c:f>Sheet1!$B$2:$B$5</c:f>
              <c:numCache>
                <c:formatCode>General</c:formatCode>
                <c:ptCount val="4"/>
                <c:pt idx="0">
                  <c:v>83.02</c:v>
                </c:pt>
                <c:pt idx="1">
                  <c:v>70.41</c:v>
                </c:pt>
                <c:pt idx="2">
                  <c:v>47.63</c:v>
                </c:pt>
                <c:pt idx="3">
                  <c:v>93.54</c:v>
                </c:pt>
              </c:numCache>
            </c:numRef>
          </c:val>
          <c:extLst>
            <c:ext xmlns:c16="http://schemas.microsoft.com/office/drawing/2014/chart" uri="{C3380CC4-5D6E-409C-BE32-E72D297353CC}">
              <c16:uniqueId val="{00000000-A4CF-49E6-B473-99BA5FDCA6EC}"/>
            </c:ext>
          </c:extLst>
        </c:ser>
        <c:ser>
          <c:idx val="1"/>
          <c:order val="1"/>
          <c:tx>
            <c:strRef>
              <c:f>Sheet1!$C$1</c:f>
              <c:strCache>
                <c:ptCount val="1"/>
                <c:pt idx="0">
                  <c:v>Unknown</c:v>
                </c:pt>
              </c:strCache>
            </c:strRef>
          </c:tx>
          <c:spPr>
            <a:solidFill>
              <a:srgbClr val="5DA88B"/>
            </a:solidFill>
            <a:effectLst/>
          </c:spPr>
          <c:invertIfNegative val="0"/>
          <c:cat>
            <c:strRef>
              <c:f>Sheet1!$A$2:$A$5</c:f>
              <c:strCache>
                <c:ptCount val="4"/>
                <c:pt idx="0">
                  <c:v>Breed</c:v>
                </c:pt>
                <c:pt idx="1">
                  <c:v>Color1</c:v>
                </c:pt>
                <c:pt idx="2">
                  <c:v>Color2</c:v>
                </c:pt>
                <c:pt idx="3">
                  <c:v>Gender</c:v>
                </c:pt>
              </c:strCache>
            </c:strRef>
          </c:cat>
          <c:val>
            <c:numRef>
              <c:f>Sheet1!$C$2:$C$5</c:f>
              <c:numCache>
                <c:formatCode>General</c:formatCode>
                <c:ptCount val="4"/>
                <c:pt idx="0">
                  <c:v>16.98</c:v>
                </c:pt>
                <c:pt idx="1">
                  <c:v>29.59</c:v>
                </c:pt>
                <c:pt idx="2">
                  <c:v>52.37</c:v>
                </c:pt>
                <c:pt idx="3">
                  <c:v>6.46</c:v>
                </c:pt>
              </c:numCache>
            </c:numRef>
          </c:val>
          <c:extLst>
            <c:ext xmlns:c16="http://schemas.microsoft.com/office/drawing/2014/chart" uri="{C3380CC4-5D6E-409C-BE32-E72D297353CC}">
              <c16:uniqueId val="{00000001-A4CF-49E6-B473-99BA5FDCA6E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44"/>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F2A44"/>
                </a:solidFill>
                <a:latin typeface="Arial"/>
              </a:defRPr>
            </a:pPr>
            <a:endParaRPr lang="en-US"/>
          </a:p>
        </c:txPr>
        <c:crossAx val="2094734554"/>
        <c:crosses val="autoZero"/>
        <c:crossBetween val="between"/>
        <c:majorUnit val="20"/>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 (%)</c:v>
                </c:pt>
              </c:strCache>
            </c:strRef>
          </c:tx>
          <c:spPr>
            <a:solidFill>
              <a:srgbClr val="3A6EA5"/>
            </a:solidFill>
            <a:effectLst/>
          </c:spPr>
          <c:invertIfNegative val="0"/>
          <c:cat>
            <c:strRef>
              <c:f>Sheet1!$A$2:$A$8</c:f>
              <c:strCache>
                <c:ptCount val="7"/>
                <c:pt idx="0">
                  <c:v>Cat</c:v>
                </c:pt>
                <c:pt idx="1">
                  <c:v>Dog</c:v>
                </c:pt>
                <c:pt idx="2">
                  <c:v>Hedgehog</c:v>
                </c:pt>
                <c:pt idx="3">
                  <c:v>Parakeet</c:v>
                </c:pt>
                <c:pt idx="4">
                  <c:v>Javasparrow</c:v>
                </c:pt>
                <c:pt idx="5">
                  <c:v>Rabbit</c:v>
                </c:pt>
                <c:pt idx="6">
                  <c:v>Others</c:v>
                </c:pt>
              </c:strCache>
            </c:strRef>
          </c:cat>
          <c:val>
            <c:numRef>
              <c:f>Sheet1!$B$2:$B$8</c:f>
              <c:numCache>
                <c:formatCode>General</c:formatCode>
                <c:ptCount val="7"/>
                <c:pt idx="0">
                  <c:v>99.96</c:v>
                </c:pt>
                <c:pt idx="1">
                  <c:v>99.88</c:v>
                </c:pt>
                <c:pt idx="2">
                  <c:v>99.48</c:v>
                </c:pt>
                <c:pt idx="3">
                  <c:v>99.23</c:v>
                </c:pt>
                <c:pt idx="4">
                  <c:v>99.22</c:v>
                </c:pt>
                <c:pt idx="5">
                  <c:v>99</c:v>
                </c:pt>
                <c:pt idx="6">
                  <c:v>98.5</c:v>
                </c:pt>
              </c:numCache>
            </c:numRef>
          </c:val>
          <c:extLst>
            <c:ext xmlns:c16="http://schemas.microsoft.com/office/drawing/2014/chart" uri="{C3380CC4-5D6E-409C-BE32-E72D297353CC}">
              <c16:uniqueId val="{00000000-B02E-4DE0-A39C-C257933E1D6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44"/>
                </a:solidFill>
                <a:latin typeface="Arial"/>
              </a:defRPr>
            </a:pPr>
            <a:endParaRPr lang="en-US"/>
          </a:p>
        </c:txPr>
        <c:crossAx val="2094734552"/>
        <c:crosses val="autoZero"/>
        <c:auto val="1"/>
        <c:lblAlgn val="ctr"/>
        <c:lblOffset val="100"/>
        <c:noMultiLvlLbl val="1"/>
      </c:catAx>
      <c:valAx>
        <c:axId val="2094734552"/>
        <c:scaling>
          <c:orientation val="minMax"/>
          <c:max val="100"/>
          <c:min val="97"/>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F2A44"/>
                </a:solidFill>
                <a:latin typeface="Arial"/>
              </a:defRPr>
            </a:pPr>
            <a:endParaRPr lang="en-US"/>
          </a:p>
        </c:txPr>
        <c:crossAx val="2094734554"/>
        <c:crosses val="autoZero"/>
        <c:crossBetween val="between"/>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1366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i="1" dirty="0"/>
              <a:t>Hi everyone, I’m Bruce DeSimas and in my part of the presentation I’ll walk through the neural‑network side of our </a:t>
            </a:r>
            <a:r>
              <a:rPr lang="en-US" i="1" dirty="0" err="1"/>
              <a:t>PetFace</a:t>
            </a:r>
            <a:r>
              <a:rPr lang="en-US" i="1" dirty="0"/>
              <a:t> project — what we did with the dataset, how we built the models, and what we learned from the results.</a:t>
            </a:r>
            <a:endParaRPr lang="en-US" dirty="0"/>
          </a:p>
          <a:p>
            <a:r>
              <a:rPr lang="en-US" i="1" dirty="0"/>
              <a:t>Very briefly, </a:t>
            </a:r>
            <a:r>
              <a:rPr lang="en-US" i="1" dirty="0" err="1"/>
              <a:t>PetFace</a:t>
            </a:r>
            <a:r>
              <a:rPr lang="en-US" i="1" dirty="0"/>
              <a:t> is a large‑scale pet image dataset where each pet can have multiple images and metadata like species, breed, color, and gender. Our goal was to use neural networks — specifically convolutional networks — to automatically predict both the species and those attributes directly from the images.</a:t>
            </a:r>
            <a:endParaRPr lang="en-US" dirty="0"/>
          </a:p>
          <a:p>
            <a:r>
              <a:rPr lang="en-US" i="1" dirty="0"/>
              <a:t>The structure of my section is: first a quick look at the dataset and its quirks, then the two‑stage modelling pipeline, the training strategy we used to fight imbalance, and finally the accuracy results and what they mean.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To set the stage, here’s what the dataset actually looks like. </a:t>
            </a:r>
            <a:r>
              <a:rPr lang="en-US" b="0" i="1" dirty="0" err="1"/>
              <a:t>PetFace</a:t>
            </a:r>
            <a:r>
              <a:rPr lang="en-US" b="0" i="1" dirty="0"/>
              <a:t> contains about 257,000 unique pets and just over 1,012,000 images, so on average there are roughly 4 images per pet. There are 13 species in total — cats, dogs, rabbits, various small mammals, and a couple of bird species.</a:t>
            </a:r>
            <a:endParaRPr lang="en-US" b="0" dirty="0"/>
          </a:p>
          <a:p>
            <a:r>
              <a:rPr lang="en-US" b="0" i="1" dirty="0"/>
              <a:t>The distribution is extremely skewed: around 64% of records are cats and 28% are dogs, with rabbits at roughly 2.5% and parakeets at 1.8%. Everything else is well under 1% each. So right away we know any model we train has to be very careful not to just learn “cat vs dog” and ignore the rare species.</a:t>
            </a:r>
            <a:endParaRPr lang="en-US" b="0" dirty="0"/>
          </a:p>
          <a:p>
            <a:r>
              <a:rPr lang="en-US" b="0" i="1" dirty="0"/>
              <a:t>From a computer‑vision perspective, the images are very convenient: they are all 224×224 RGB PNGs with a uniform aspect ratio and similar file sizes. That means we can feed them directly into a standard </a:t>
            </a:r>
            <a:r>
              <a:rPr lang="en-US" b="0" i="1" dirty="0" err="1"/>
              <a:t>ResNet</a:t>
            </a:r>
            <a:r>
              <a:rPr lang="en-US" b="0" i="1" dirty="0"/>
              <a:t> architecture without complicated resizing logic or special handling per species.</a:t>
            </a:r>
            <a:endParaRPr lang="en-US" b="0" dirty="0"/>
          </a:p>
          <a:p>
            <a:r>
              <a:rPr lang="en-US" b="0" i="1" dirty="0"/>
              <a:t>The overarching project goal for our group is: build neural networks that can correctly classify the species and then predict breed, primary and secondary color, and gender wherever those labels are available. And importantly, we need to be able to justify why our chosen architecture makes sense for this dataset and what we can conclude from the results.</a:t>
            </a:r>
            <a:endParaRPr lang="en-US" b="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This slide shows two of the big data issues we had to design around: class imbalance and missing metadata.</a:t>
            </a:r>
            <a:endParaRPr lang="en-US" b="0" dirty="0"/>
          </a:p>
          <a:p>
            <a:r>
              <a:rPr lang="en-US" b="0" i="1" dirty="0"/>
              <a:t>On the imbalance side, you can see that cats and dogs dominate the dataset, while species like ferret, chinchilla, or </a:t>
            </a:r>
            <a:r>
              <a:rPr lang="en-US" b="0" i="1" dirty="0" err="1"/>
              <a:t>javasparrow</a:t>
            </a:r>
            <a:r>
              <a:rPr lang="en-US" b="0" i="1" dirty="0"/>
              <a:t> are tiny. If we trained a naïve classifier, it could get a very high overall accuracy simply by almost always predicting cat or dog, and it would barely learn anything about the rare species.</a:t>
            </a:r>
            <a:endParaRPr lang="en-US" b="0" dirty="0"/>
          </a:p>
          <a:p>
            <a:r>
              <a:rPr lang="en-US" b="0" i="1" dirty="0"/>
              <a:t>The second issue is missingness in the attribute labels. Globally, about 17% of breeds are marked as Unknown, about 30% of Color1, and over half of Color2 are Unknown. Gender is better overall, only about 6% Unknown, but that hides some extreme cases by species.</a:t>
            </a:r>
            <a:endParaRPr lang="en-US" b="0" dirty="0"/>
          </a:p>
          <a:p>
            <a:r>
              <a:rPr lang="en-US" b="0" i="1" dirty="0"/>
              <a:t>For example, for dogs and chimps the color fields are basically unusable — Color1 and Color2 are 100% Unknown. For the bird species, parakeets and </a:t>
            </a:r>
            <a:r>
              <a:rPr lang="en-US" b="0" i="1" dirty="0" err="1"/>
              <a:t>javasparrows</a:t>
            </a:r>
            <a:r>
              <a:rPr lang="en-US" b="0" i="1" dirty="0"/>
              <a:t>, the gender label is almost always missing, in the 94–98% Unknown range. And for many small mammals, breed is often completely unknown or reduced to just one generic breed category.</a:t>
            </a:r>
            <a:endParaRPr lang="en-US" b="0" dirty="0"/>
          </a:p>
          <a:p>
            <a:r>
              <a:rPr lang="en-US" b="0" i="1" dirty="0"/>
              <a:t>The key takeaway for the modelling side is that we can’t just treat every attribute the same across species. Some attribute–species combinations are informative, and some are essentially noise, so we’ll reflect that in both our preprocessing and in the architecture choices later.</a:t>
            </a:r>
            <a:endParaRPr lang="en-US" b="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Given that data profile, we had three main preprocessing challenges.</a:t>
            </a:r>
            <a:endParaRPr lang="en-US" b="0" dirty="0"/>
          </a:p>
          <a:p>
            <a:r>
              <a:rPr lang="en-US" b="0" i="1" dirty="0"/>
              <a:t>First, class imbalance: cats and dogs massively out‑number the other species. If we just shuffled everything and trained normally, the model would see cats and dogs almost all the time and might almost never see, say, hedgehogs or ferrets. To mitigate that we combine oversampling for minority classes and class‑specific weighting in the loss, which I’ll describe more precisely on the training slide.</a:t>
            </a:r>
            <a:endParaRPr lang="en-US" b="0" dirty="0"/>
          </a:p>
          <a:p>
            <a:r>
              <a:rPr lang="en-US" b="0" i="1" dirty="0"/>
              <a:t>Second, missing metadata: some attribute labels are so sparse that they’re effectively unusable. For example, we decided that </a:t>
            </a:r>
            <a:r>
              <a:rPr lang="en-US" b="0" i="1" dirty="0" err="1"/>
              <a:t>colour</a:t>
            </a:r>
            <a:r>
              <a:rPr lang="en-US" b="0" i="1" dirty="0"/>
              <a:t> for dogs and chimps doesn’t make sense to model because it’s 100% Unknown; instead, we focus on attributes that are actually populated for that species. For attributes with partial coverage, we do two things: we collapse extremely rare categories into an “Other” bucket and we treat “Unknown” as its own explicit class rather than silently dropping those records.</a:t>
            </a:r>
            <a:endParaRPr lang="en-US" b="0" dirty="0"/>
          </a:p>
          <a:p>
            <a:r>
              <a:rPr lang="en-US" b="0" i="1" dirty="0"/>
              <a:t>Third, ID mismatch and potential leakage: images are stored with a numeric </a:t>
            </a:r>
            <a:r>
              <a:rPr lang="en-US" sz="1200" b="0" i="1" kern="1200" dirty="0" err="1">
                <a:solidFill>
                  <a:schemeClr val="tx1"/>
                </a:solidFill>
                <a:latin typeface="+mn-lt"/>
                <a:ea typeface="+mn-ea"/>
                <a:cs typeface="+mn-cs"/>
              </a:rPr>
              <a:t>record_id</a:t>
            </a:r>
            <a:r>
              <a:rPr lang="en-US" b="0" i="1" dirty="0"/>
              <a:t>, while the annotations use a zero‑padded string </a:t>
            </a:r>
            <a:r>
              <a:rPr lang="en-US" sz="1200" b="0" i="1" kern="1200" dirty="0">
                <a:solidFill>
                  <a:schemeClr val="tx1"/>
                </a:solidFill>
                <a:latin typeface="+mn-lt"/>
                <a:ea typeface="+mn-ea"/>
                <a:cs typeface="+mn-cs"/>
              </a:rPr>
              <a:t>Name</a:t>
            </a:r>
            <a:r>
              <a:rPr lang="en-US" b="0" i="1" dirty="0"/>
              <a:t> field. The counts match exactly, but if we split per image instead of per record, the same pet can appear in both train and test, which would massively inflate accuracy. So we </a:t>
            </a:r>
            <a:r>
              <a:rPr lang="en-US" b="0" i="1" dirty="0" err="1"/>
              <a:t>standardised</a:t>
            </a:r>
            <a:r>
              <a:rPr lang="en-US" b="0" i="1" dirty="0"/>
              <a:t> IDs, created a canonical mapping, and always split by record, not by individual images. That way, all images of a given pet live in the same split and we avoid identity leakage.</a:t>
            </a:r>
            <a:endParaRPr lang="en-US" b="0" dirty="0"/>
          </a:p>
          <a:p>
            <a:r>
              <a:rPr lang="en-US" b="0" i="1" dirty="0"/>
              <a:t>We also made some smaller but important preprocessing choices: stratifying splits by species and sometimes by breed, and applying light augmentations like flips and small rotations to increase robustness without changing the problem we’re actually trying to solve.</a:t>
            </a:r>
            <a:endParaRPr lang="en-US" b="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Stage 1 is a single ResNet‑18 trained from scratch to predict one of 13 species for each image. You can think of this as a deep, non‑linear generalization of the perceptron: instead of a single layer of weighted inputs, we stack many convolutional layers, each with non‑linear activations, to learn increasingly abstract visual features that distinguish, say, a chinchilla from a hamster.</a:t>
            </a:r>
            <a:endParaRPr lang="en-US" b="0" dirty="0"/>
          </a:p>
          <a:p>
            <a:r>
              <a:rPr lang="en-US" b="0" i="1" dirty="0"/>
              <a:t>Stage 2 is a collection of species‑specific specialist models, again based on ResNet‑18, but with multiple output heads. For each species we define which attributes actually make sense — for cats, for example, we train heads for gender, breed, Color1, and Color2; for dogs, we train gender and breed; for some small mammals we only train color heads if color is annotated</a:t>
            </a:r>
            <a:endParaRPr lang="en-US" b="0" dirty="0"/>
          </a:p>
          <a:p>
            <a:r>
              <a:rPr lang="en-US" b="0" i="1" dirty="0"/>
              <a:t>At inference time the flow is: Stage 1 takes an image and predicts the species; based on that prediction, we select the corresponding specialist in Stage 2; the specialist then outputs breed, primary and secondary colors, and gender where those labels exist. There’s also a thin wrapper that maps the raw logits to human‑readable labels using the vocabularies we saved during training. That’s what allows us to evaluate the entire 1‑million‑image tree in a single pass.</a:t>
            </a:r>
            <a:endParaRPr lang="en-US" b="0" dirty="0"/>
          </a:p>
          <a:p>
            <a:r>
              <a:rPr lang="en-US" b="0" i="1" dirty="0"/>
              <a:t>This separation keeps Stage 1 focused on a clean 13‑way classification, while Stage 2 can be tailored to the quirks of each species’ annotations.</a:t>
            </a:r>
            <a:endParaRPr lang="en-US" b="0" dirty="0"/>
          </a:p>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On this slide I’m focusing on how we actually train Stage 1 and, conceptually, how that idea carries over to Stage 2.</a:t>
            </a:r>
            <a:endParaRPr lang="en-US" b="0" dirty="0"/>
          </a:p>
          <a:p>
            <a:r>
              <a:rPr lang="en-US" b="0" i="1" dirty="0"/>
              <a:t>We start with an 80/10/10 split per record into train, validation and test. Because we split at the record (pet) level and not per image, every pet only appears in one split, which avoids the network </a:t>
            </a:r>
            <a:r>
              <a:rPr lang="en-US" b="0" i="1" dirty="0" err="1"/>
              <a:t>memorising</a:t>
            </a:r>
            <a:r>
              <a:rPr lang="en-US" b="0" i="1" dirty="0"/>
              <a:t> a specific animal and then seeing another photo of the same pet in the test set.</a:t>
            </a:r>
            <a:endParaRPr lang="en-US" b="0" dirty="0"/>
          </a:p>
          <a:p>
            <a:r>
              <a:rPr lang="en-US" b="0" i="1" dirty="0"/>
              <a:t>To address species imbalance we use a </a:t>
            </a:r>
            <a:r>
              <a:rPr lang="en-US" b="0" i="1" dirty="0" err="1"/>
              <a:t>WeightedRandomSampler</a:t>
            </a:r>
            <a:r>
              <a:rPr lang="en-US" b="0" i="1" dirty="0"/>
              <a:t> in </a:t>
            </a:r>
            <a:r>
              <a:rPr lang="en-US" b="0" i="1" dirty="0" err="1"/>
              <a:t>PyTorch</a:t>
            </a:r>
            <a:r>
              <a:rPr lang="en-US" b="0" i="1" dirty="0"/>
              <a:t>. We compute class weights based on how frequent each species is: classes with fewer samples get larger weights, capped at a factor of 3× so they’re oversampled but not to the point of exploding variance. Then, after every epoch, we recompute a confusion matrix on the validation set, estimate per‑class recall, and increase the sampling weight for classes that the model is struggling with. That gives us a kind of adaptive curriculum where rare or difficult species are shown more often.</a:t>
            </a:r>
            <a:endParaRPr lang="en-US" b="0" dirty="0"/>
          </a:p>
          <a:p>
            <a:r>
              <a:rPr lang="en-US" b="0" i="1" dirty="0"/>
              <a:t>For data augmentation, we use two regimes. Head classes (like cats and dogs) see a “base” transform: random horizontal flips, modest </a:t>
            </a:r>
            <a:r>
              <a:rPr lang="en-US" b="0" i="1" dirty="0" err="1"/>
              <a:t>colour</a:t>
            </a:r>
            <a:r>
              <a:rPr lang="en-US" b="0" i="1" dirty="0"/>
              <a:t> jitter, small affine transforms, and random erasing. Minority classes get a stronger “tail” transform — optionally with </a:t>
            </a:r>
            <a:r>
              <a:rPr lang="en-US" b="0" i="1" dirty="0" err="1"/>
              <a:t>RandAugment</a:t>
            </a:r>
            <a:r>
              <a:rPr lang="en-US" b="0" i="1" dirty="0"/>
              <a:t>, stronger jitter, and a higher probability of random erasing — to encourage the network to </a:t>
            </a:r>
            <a:r>
              <a:rPr lang="en-US" b="0" i="1" dirty="0" err="1"/>
              <a:t>generalise</a:t>
            </a:r>
            <a:r>
              <a:rPr lang="en-US" b="0" i="1" dirty="0"/>
              <a:t> from fewer examples. All images are treated as 224×224 RGB tensors, consistent with the dataset’s native format.</a:t>
            </a:r>
            <a:endParaRPr lang="en-US" b="0" dirty="0"/>
          </a:p>
          <a:p>
            <a:r>
              <a:rPr lang="en-US" b="0" i="1" dirty="0"/>
              <a:t>We train with </a:t>
            </a:r>
            <a:r>
              <a:rPr lang="en-US" b="0" i="1" dirty="0" err="1"/>
              <a:t>AdamW</a:t>
            </a:r>
            <a:r>
              <a:rPr lang="en-US" b="0" i="1" dirty="0"/>
              <a:t>, standard cross‑entropy loss, mixed precision for efficiency, and early stopping based on validation accuracy so we don’t overfit to the head classes.</a:t>
            </a:r>
            <a:endParaRPr lang="en-US" b="0" dirty="0"/>
          </a:p>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With that training setup, Stage 1 ends up performing extremely well. On the full 1,012,933‑image evaluation, the overall species accuracy is about 99.82% — that means only around 0.18% of images are misclassified at the species level.</a:t>
            </a:r>
            <a:endParaRPr lang="en-US" b="0" dirty="0"/>
          </a:p>
          <a:p>
            <a:r>
              <a:rPr lang="en-US" b="0" i="1" dirty="0"/>
              <a:t>Looking at the per‑species breakdown, cats are at 99.96%, dogs at 99.88%, and even the rare species — things like chinchillas, degus, and </a:t>
            </a:r>
            <a:r>
              <a:rPr lang="en-US" b="0" i="1" dirty="0" err="1"/>
              <a:t>javasparrows</a:t>
            </a:r>
            <a:r>
              <a:rPr lang="en-US" b="0" i="1" dirty="0"/>
              <a:t> — are all around 97–99%. There isn’t a single species below roughly 97% accuracy, which is impressive given how imbalanced the dataset is and how few examples some classes have.</a:t>
            </a:r>
            <a:endParaRPr lang="en-US" b="0" dirty="0"/>
          </a:p>
          <a:p>
            <a:r>
              <a:rPr lang="en-US" b="0" i="1" dirty="0"/>
              <a:t>This is where the dynamic sampling really pays off. Without rebalancing, the network would mostly ignore the minority species, but by focusing extra sampling weight on low‑recall classes and on classes with fewer examples, we achieve both high overall accuracy and strong coverage across all 13 species.</a:t>
            </a:r>
            <a:endParaRPr lang="en-US" b="0" dirty="0"/>
          </a:p>
          <a:p>
            <a:r>
              <a:rPr lang="en-US" b="0" i="1" dirty="0"/>
              <a:t>Practically, this means Stage 1 is essentially “solved” for the current dataset. There’s very little to gain from making the species network deeper or more complex unless the dataset or requirements change dramatically.</a:t>
            </a:r>
            <a:endParaRPr lang="en-US" b="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Stage 2 is more challenging because we’re predicting breed, </a:t>
            </a:r>
            <a:r>
              <a:rPr lang="en-US" b="0" i="1" dirty="0" err="1"/>
              <a:t>colours</a:t>
            </a:r>
            <a:r>
              <a:rPr lang="en-US" b="0" i="1" dirty="0"/>
              <a:t>, and gender, and those labels are both noisy and missing in many places. To make the results interpretable, we report accuracy conditional on two things: Stage 1 must have predicted the correct species, and the attribute label must actually be known — we don’t count Unknowns.</a:t>
            </a:r>
            <a:endParaRPr lang="en-US" b="0" dirty="0"/>
          </a:p>
          <a:p>
            <a:r>
              <a:rPr lang="en-US" b="0" i="1" dirty="0"/>
              <a:t>At a global level across all species, we see that breed accuracy is about 84.9%, Color1 is around 83.1%, Color2 about 77.2%, and gender is around 65.3%. There’s also a “Color” head for some species that reaches roughly 88.7%. So breed and primary color are in the mid‑80s, secondary color is a bit weaker, and gender is clearly the hardest task.</a:t>
            </a:r>
            <a:endParaRPr lang="en-US" b="0" dirty="0"/>
          </a:p>
          <a:p>
            <a:r>
              <a:rPr lang="en-US" b="0" i="1" dirty="0"/>
              <a:t>If we zoom in on the dominant species, cats have 88.4% breed accuracy, 83.9% for Color1, 77.0% for Color2, and 67.3% for gender. Dogs have 76.8% breed and 61.0% gender accuracy. These are pretty usable numbers for many applications, especially for breed and main color, but you should think of gender as “right about two‑thirds of the time.”</a:t>
            </a:r>
            <a:endParaRPr lang="en-US" b="0" dirty="0"/>
          </a:p>
          <a:p>
            <a:r>
              <a:rPr lang="en-US" b="0" i="1" dirty="0"/>
              <a:t>We also see interesting per‑species extremes. For example, hamster breed classification reaches over 97%, whereas chimp breed accuracy is closer to 56%. For color, hedgehogs have very high Color1 accuracy, while degus are much lower. For gender, </a:t>
            </a:r>
            <a:r>
              <a:rPr lang="en-US" b="0" i="1" dirty="0" err="1"/>
              <a:t>javasparrow</a:t>
            </a:r>
            <a:r>
              <a:rPr lang="en-US" b="0" i="1" dirty="0"/>
              <a:t> hits about 84%, but degus gender is only around 50% — basically coin‑flip level. A lot of this variation correlates with how clean and complete the labels are for that species–attribute combination.</a:t>
            </a:r>
            <a:endParaRPr lang="en-US" b="0" dirty="0"/>
          </a:p>
          <a:p>
            <a:r>
              <a:rPr lang="en-US" b="0" i="1" dirty="0"/>
              <a:t>So the message from this slide is: the specialists do a very good job on breed and color when the labels are reliable, but gender in particular remains noisy and difficult.</a:t>
            </a:r>
            <a:endParaRPr lang="en-US" b="0" dirty="0"/>
          </a:p>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Putting the results together, we can make a few high‑level observations.</a:t>
            </a:r>
            <a:endParaRPr lang="en-US" b="0" dirty="0"/>
          </a:p>
          <a:p>
            <a:r>
              <a:rPr lang="en-US" b="0" i="1" dirty="0"/>
              <a:t>First, species classification is basically solved at ≈99.8% accuracy. There’s no obvious bottleneck there right now; the combination of ResNet‑18 plus adaptive sampling is enough to saturate performance on this dataset.</a:t>
            </a:r>
            <a:endParaRPr lang="en-US" b="0" dirty="0"/>
          </a:p>
          <a:p>
            <a:r>
              <a:rPr lang="en-US" b="0" i="1" dirty="0"/>
              <a:t>Second, the attribute specialists show that breed and </a:t>
            </a:r>
            <a:r>
              <a:rPr lang="en-US" b="0" i="1" dirty="0" err="1"/>
              <a:t>colour</a:t>
            </a:r>
            <a:r>
              <a:rPr lang="en-US" b="0" i="1" dirty="0"/>
              <a:t> are very learnable signals: mid‑80s accuracy is strong given the diversity of breeds and the fact that the same breed can appear in many different poses and lighting conditions. Secondary </a:t>
            </a:r>
            <a:r>
              <a:rPr lang="en-US" b="0" i="1" dirty="0" err="1"/>
              <a:t>colour</a:t>
            </a:r>
            <a:r>
              <a:rPr lang="en-US" b="0" i="1" dirty="0"/>
              <a:t>, Color2, is a bit weaker — partly because it’s often missing and partly because “second </a:t>
            </a:r>
            <a:r>
              <a:rPr lang="en-US" b="0" i="1" dirty="0" err="1"/>
              <a:t>colour</a:t>
            </a:r>
            <a:r>
              <a:rPr lang="en-US" b="0" i="1" dirty="0"/>
              <a:t>” is inherently ambiguous.</a:t>
            </a:r>
            <a:endParaRPr lang="en-US" b="0" dirty="0"/>
          </a:p>
          <a:p>
            <a:r>
              <a:rPr lang="en-US" b="0" i="1" dirty="0"/>
              <a:t>Third, gender is the main bottleneck. It’s not just a modelling problem; the data is working against us. For birds almost all gender labels are Unknown, and for some small mammals breed and </a:t>
            </a:r>
            <a:r>
              <a:rPr lang="en-US" b="0" i="1" dirty="0" err="1"/>
              <a:t>colour</a:t>
            </a:r>
            <a:r>
              <a:rPr lang="en-US" b="0" i="1" dirty="0"/>
              <a:t> are also heavily Unknown. Even for cats and dogs, the visual cues for gender are subtle; often you need context that isn’t in the cropped face image. So a gender model is trying to infer something that’s both weakly visible and inconsistently labelled.</a:t>
            </a:r>
            <a:endParaRPr lang="en-US" b="0" dirty="0"/>
          </a:p>
          <a:p>
            <a:r>
              <a:rPr lang="en-US" b="0" i="1" dirty="0"/>
              <a:t>In terms of future work, there are several directions: we could replace the two‑stage design with a single multi‑task network that predicts species and attributes jointly; we could swap in deeper or pretrained backbones like ResNet‑50 or vision transformers to see if richer features help; we could aggregate predictions across all images of a pet instead of treating images independently; and we could explore semi‑supervised or self‑supervised learning to make better use of the huge number of images without reliable attribute labels.</a:t>
            </a:r>
            <a:endParaRPr lang="en-US" b="0" dirty="0"/>
          </a:p>
          <a:p>
            <a:r>
              <a:rPr lang="en-US" b="0" i="1" dirty="0"/>
              <a:t>Another avenue is targeted data collection: for example, adding more balanced and clearly annotated gender examples for under‑performing species, or cleaning up the most ambiguous breed labels, which would almost certainly lift attribute performance.</a:t>
            </a:r>
            <a:endParaRPr lang="en-US" b="0" dirty="0"/>
          </a:p>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0" i="1" dirty="0"/>
              <a:t>To wrap up my section, I’ll summarize the main points.</a:t>
            </a:r>
            <a:endParaRPr lang="en-US" b="0" dirty="0"/>
          </a:p>
          <a:p>
            <a:r>
              <a:rPr lang="en-US" b="0" i="1" dirty="0"/>
              <a:t>From a data perspective, good hygiene was essential: </a:t>
            </a:r>
            <a:r>
              <a:rPr lang="en-US" b="0" i="1" dirty="0" err="1"/>
              <a:t>standardising</a:t>
            </a:r>
            <a:r>
              <a:rPr lang="en-US" b="0" i="1" dirty="0"/>
              <a:t> IDs, preventing identity leakage by splitting on records, and handling missing labels explicitly rather than ignoring them. Those steps sound boring, but they directly enabled the strong performance we saw later.</a:t>
            </a:r>
            <a:endParaRPr lang="en-US" b="0" dirty="0"/>
          </a:p>
          <a:p>
            <a:r>
              <a:rPr lang="en-US" b="0" i="1" dirty="0"/>
              <a:t>From a modelling perspective, a relatively simple but well‑designed two‑stage </a:t>
            </a:r>
            <a:r>
              <a:rPr lang="en-US" b="0" i="1" dirty="0" err="1"/>
              <a:t>ResNet</a:t>
            </a:r>
            <a:r>
              <a:rPr lang="en-US" b="0" i="1" dirty="0"/>
              <a:t> pipeline — plus thoughtful sampling and augmentation — is enough to solve species classification and achieve strong attribute prediction on a million‑image dataset. We didn’t need exotic architectures; we needed to respect the structure and quirks of the data.</a:t>
            </a:r>
            <a:endParaRPr lang="en-US" b="0" dirty="0"/>
          </a:p>
          <a:p>
            <a:r>
              <a:rPr lang="en-US" b="0" i="1" dirty="0"/>
              <a:t>Finally, the </a:t>
            </a:r>
            <a:r>
              <a:rPr lang="en-US" b="0" i="1" dirty="0" err="1"/>
              <a:t>PetFace</a:t>
            </a:r>
            <a:r>
              <a:rPr lang="en-US" b="0" i="1" dirty="0"/>
              <a:t> dataset still has a lot of headroom. Gender prediction and some of the smaller species remain challenging, which makes this a great testbed for future ideas like multi‑task learning, better label curation, and more advanced backbones. So the big takeaway is: with careful data handling and the right neural‑network design, we can get very strong results already — and there’s still plenty of interesting work left to do.</a:t>
            </a:r>
            <a:endParaRPr lang="en-US" b="0" dirty="0"/>
          </a:p>
          <a:p>
            <a:r>
              <a:rPr lang="en-US" b="0" i="1" dirty="0"/>
              <a:t>Thanks for listening — I’ll hand it over to the next person in our group.</a:t>
            </a:r>
            <a:endParaRPr lang="en-US" b="0" dirty="0"/>
          </a:p>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8F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29200" y="274320"/>
            <a:ext cx="4114800" cy="2743200"/>
          </a:xfrm>
          <a:prstGeom prst="rect">
            <a:avLst/>
          </a:prstGeom>
        </p:spPr>
      </p:pic>
      <p:sp>
        <p:nvSpPr>
          <p:cNvPr id="3" name="Shape 0"/>
          <p:cNvSpPr/>
          <p:nvPr/>
        </p:nvSpPr>
        <p:spPr>
          <a:xfrm>
            <a:off x="457200" y="1371600"/>
            <a:ext cx="4572000" cy="2011680"/>
          </a:xfrm>
          <a:prstGeom prst="rect">
            <a:avLst/>
          </a:prstGeom>
          <a:solidFill>
            <a:srgbClr val="1F2A44">
              <a:alpha val="50000"/>
            </a:srgbClr>
          </a:solidFill>
          <a:ln w="12700">
            <a:solidFill>
              <a:srgbClr val="1F2A44"/>
            </a:solidFill>
            <a:prstDash val="solid"/>
          </a:ln>
        </p:spPr>
        <p:txBody>
          <a:bodyPr/>
          <a:lstStyle/>
          <a:p>
            <a:endParaRPr/>
          </a:p>
        </p:txBody>
      </p:sp>
      <p:sp>
        <p:nvSpPr>
          <p:cNvPr id="4" name="Text 1"/>
          <p:cNvSpPr/>
          <p:nvPr/>
        </p:nvSpPr>
        <p:spPr>
          <a:xfrm>
            <a:off x="548640" y="1463040"/>
            <a:ext cx="4389120" cy="914400"/>
          </a:xfrm>
          <a:prstGeom prst="rect">
            <a:avLst/>
          </a:prstGeom>
          <a:noFill/>
          <a:ln/>
        </p:spPr>
        <p:txBody>
          <a:bodyPr wrap="square" rtlCol="0" anchor="ctr"/>
          <a:lstStyle/>
          <a:p>
            <a:pPr marL="0" indent="0" algn="l">
              <a:buNone/>
            </a:pPr>
            <a:r>
              <a:rPr lang="en-US" sz="3200" b="1" dirty="0">
                <a:solidFill>
                  <a:srgbClr val="F5F8FA"/>
                </a:solidFill>
              </a:rPr>
              <a:t>PetFace Deep Learning Exploration</a:t>
            </a:r>
            <a:endParaRPr lang="en-US" sz="3200" dirty="0"/>
          </a:p>
        </p:txBody>
      </p:sp>
      <p:sp>
        <p:nvSpPr>
          <p:cNvPr id="5" name="Text 2"/>
          <p:cNvSpPr/>
          <p:nvPr/>
        </p:nvSpPr>
        <p:spPr>
          <a:xfrm>
            <a:off x="548640" y="2606040"/>
            <a:ext cx="4389120" cy="548640"/>
          </a:xfrm>
          <a:prstGeom prst="rect">
            <a:avLst/>
          </a:prstGeom>
          <a:noFill/>
          <a:ln/>
        </p:spPr>
        <p:txBody>
          <a:bodyPr wrap="square" rtlCol="0" anchor="ctr"/>
          <a:lstStyle/>
          <a:p>
            <a:pPr marL="0" indent="0" algn="l">
              <a:buNone/>
            </a:pPr>
            <a:r>
              <a:rPr lang="en-US" sz="1600" i="1" dirty="0"/>
              <a:t>Species classification &amp; attribute prediction with ResNet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marL="0" indent="0">
              <a:buNone/>
            </a:pPr>
            <a:r>
              <a:rPr lang="en-US" sz="2400" b="1" dirty="0">
                <a:solidFill>
                  <a:srgbClr val="1F2A44"/>
                </a:solidFill>
              </a:rPr>
              <a:t>Dataset &amp; Project Overview</a:t>
            </a:r>
            <a:endParaRPr lang="en-US" sz="2400" dirty="0"/>
          </a:p>
        </p:txBody>
      </p:sp>
      <p:sp>
        <p:nvSpPr>
          <p:cNvPr id="3" name="Text 1"/>
          <p:cNvSpPr/>
          <p:nvPr/>
        </p:nvSpPr>
        <p:spPr>
          <a:xfrm>
            <a:off x="457200" y="1097280"/>
            <a:ext cx="4114800" cy="1371600"/>
          </a:xfrm>
          <a:prstGeom prst="rect">
            <a:avLst/>
          </a:prstGeom>
          <a:noFill/>
          <a:ln/>
        </p:spPr>
        <p:txBody>
          <a:bodyPr wrap="square" lIns="1270" tIns="1270" rIns="1270" bIns="1270" rtlCol="0" anchor="ctr"/>
          <a:lstStyle/>
          <a:p>
            <a:pPr marL="0" indent="0">
              <a:buNone/>
            </a:pPr>
            <a:r>
              <a:rPr lang="en-US" sz="1400" b="1" dirty="0">
                <a:solidFill>
                  <a:srgbClr val="3A6EA5"/>
                </a:solidFill>
              </a:rPr>
              <a:t>Scale &amp; Scope
</a:t>
            </a:r>
            <a:r>
              <a:rPr lang="en-US" sz="1200" dirty="0">
                <a:solidFill>
                  <a:srgbClr val="1F2A44"/>
                </a:solidFill>
              </a:rPr>
              <a:t>• 257,484 unique pets
• 1,012,933 images (≈3.93 per record)
• 13 species represented</a:t>
            </a:r>
            <a:endParaRPr lang="en-US" sz="1400" dirty="0"/>
          </a:p>
        </p:txBody>
      </p:sp>
      <p:sp>
        <p:nvSpPr>
          <p:cNvPr id="4" name="Text 2"/>
          <p:cNvSpPr/>
          <p:nvPr/>
        </p:nvSpPr>
        <p:spPr>
          <a:xfrm>
            <a:off x="4572000" y="1097280"/>
            <a:ext cx="4114800" cy="1371600"/>
          </a:xfrm>
          <a:prstGeom prst="rect">
            <a:avLst/>
          </a:prstGeom>
          <a:noFill/>
          <a:ln/>
        </p:spPr>
        <p:txBody>
          <a:bodyPr wrap="square" lIns="1270" tIns="1270" rIns="1270" bIns="1270" rtlCol="0" anchor="ctr"/>
          <a:lstStyle/>
          <a:p>
            <a:pPr marL="0" indent="0">
              <a:buNone/>
            </a:pPr>
            <a:r>
              <a:rPr lang="en-US" sz="1400" b="1" dirty="0">
                <a:solidFill>
                  <a:srgbClr val="3A6EA5"/>
                </a:solidFill>
              </a:rPr>
              <a:t>Dominant Species
</a:t>
            </a:r>
            <a:r>
              <a:rPr lang="en-US" sz="1200" dirty="0">
                <a:solidFill>
                  <a:srgbClr val="1F2A44"/>
                </a:solidFill>
              </a:rPr>
              <a:t>Cats: 63.7% (164k records)</a:t>
            </a:r>
            <a:endParaRPr lang="en-US" sz="1400" dirty="0"/>
          </a:p>
          <a:p>
            <a:pPr marL="0" indent="0">
              <a:buNone/>
            </a:pPr>
            <a:r>
              <a:rPr lang="en-US" sz="1200" dirty="0">
                <a:solidFill>
                  <a:srgbClr val="1F2A44"/>
                </a:solidFill>
              </a:rPr>
              <a:t>Dogs: 27.8% (71k records)</a:t>
            </a:r>
            <a:endParaRPr lang="en-US" sz="1400" dirty="0"/>
          </a:p>
          <a:p>
            <a:pPr marL="0" indent="0">
              <a:buNone/>
            </a:pPr>
            <a:r>
              <a:rPr lang="en-US" sz="1200" dirty="0">
                <a:solidFill>
                  <a:srgbClr val="1F2A44"/>
                </a:solidFill>
              </a:rPr>
              <a:t>Rabbit: 2.5%</a:t>
            </a:r>
            <a:endParaRPr lang="en-US" sz="1400" dirty="0"/>
          </a:p>
          <a:p>
            <a:pPr marL="0" indent="0">
              <a:buNone/>
            </a:pPr>
            <a:r>
              <a:rPr lang="en-US" sz="1200" dirty="0">
                <a:solidFill>
                  <a:srgbClr val="1F2A44"/>
                </a:solidFill>
              </a:rPr>
              <a:t>Parakeet: 1.8%</a:t>
            </a:r>
            <a:endParaRPr lang="en-US" sz="1400" dirty="0"/>
          </a:p>
          <a:p>
            <a:pPr marL="0" indent="0">
              <a:buNone/>
            </a:pPr>
            <a:r>
              <a:rPr lang="en-US" sz="1200" dirty="0">
                <a:solidFill>
                  <a:srgbClr val="1F2A44"/>
                </a:solidFill>
              </a:rPr>
              <a:t>Others: &lt;1%</a:t>
            </a:r>
            <a:endParaRPr lang="en-US" sz="1400" dirty="0"/>
          </a:p>
        </p:txBody>
      </p:sp>
      <p:sp>
        <p:nvSpPr>
          <p:cNvPr id="5" name="Text 3"/>
          <p:cNvSpPr/>
          <p:nvPr/>
        </p:nvSpPr>
        <p:spPr>
          <a:xfrm>
            <a:off x="457200" y="2651760"/>
            <a:ext cx="8229600" cy="1371600"/>
          </a:xfrm>
          <a:prstGeom prst="rect">
            <a:avLst/>
          </a:prstGeom>
          <a:noFill/>
          <a:ln/>
        </p:spPr>
        <p:txBody>
          <a:bodyPr wrap="square" lIns="1270" tIns="1270" rIns="1270" bIns="1270" rtlCol="0" anchor="ctr"/>
          <a:lstStyle/>
          <a:p>
            <a:pPr marL="0" indent="0">
              <a:buNone/>
            </a:pPr>
            <a:r>
              <a:rPr lang="en-US" sz="1400" b="1" dirty="0">
                <a:solidFill>
                  <a:srgbClr val="3A6EA5"/>
                </a:solidFill>
              </a:rPr>
              <a:t>Project Goal
</a:t>
            </a:r>
            <a:r>
              <a:rPr lang="en-US" sz="1200" dirty="0">
                <a:solidFill>
                  <a:srgbClr val="1F2A44"/>
                </a:solidFill>
              </a:rPr>
              <a:t>Develop neural networks to classify species and predict breed, color and gender attributes from images. Explain why the chosen models suit the dataset, what inferences were made and propose future directions.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200" b="1" dirty="0">
                <a:solidFill>
                  <a:srgbClr val="1F2A44"/>
                </a:solidFill>
              </a:rPr>
              <a:t>Composition &amp; Missingness</a:t>
            </a:r>
            <a:endParaRPr lang="en-US" sz="2200" dirty="0"/>
          </a:p>
        </p:txBody>
      </p:sp>
      <p:graphicFrame>
        <p:nvGraphicFramePr>
          <p:cNvPr id="3" name="Chart 0"/>
          <p:cNvGraphicFramePr/>
          <p:nvPr/>
        </p:nvGraphicFramePr>
        <p:xfrm>
          <a:off x="457200" y="1005840"/>
          <a:ext cx="411480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4754880" y="1005840"/>
          <a:ext cx="4114800"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1"/>
          <p:cNvSpPr/>
          <p:nvPr/>
        </p:nvSpPr>
        <p:spPr>
          <a:xfrm>
            <a:off x="822960" y="3246120"/>
            <a:ext cx="3749040" cy="457200"/>
          </a:xfrm>
          <a:prstGeom prst="rect">
            <a:avLst/>
          </a:prstGeom>
          <a:noFill/>
          <a:ln/>
        </p:spPr>
        <p:txBody>
          <a:bodyPr wrap="square" rtlCol="0" anchor="ctr"/>
          <a:lstStyle/>
          <a:p>
            <a:pPr marL="0" indent="0">
              <a:buNone/>
            </a:pPr>
            <a:r>
              <a:rPr lang="en-US" sz="1200" b="1" dirty="0">
                <a:solidFill>
                  <a:srgbClr val="3A6EA5"/>
                </a:solidFill>
              </a:rPr>
              <a:t>Heavy imbalance
</a:t>
            </a:r>
            <a:r>
              <a:rPr lang="en-US" sz="1000" dirty="0">
                <a:solidFill>
                  <a:srgbClr val="1F2A44"/>
                </a:solidFill>
              </a:rPr>
              <a:t>Cats and dogs dominate; minor species contribute &lt;3% combined.</a:t>
            </a:r>
            <a:endParaRPr lang="en-US" sz="1200" dirty="0"/>
          </a:p>
        </p:txBody>
      </p:sp>
      <p:sp>
        <p:nvSpPr>
          <p:cNvPr id="8" name="Text 2"/>
          <p:cNvSpPr/>
          <p:nvPr/>
        </p:nvSpPr>
        <p:spPr>
          <a:xfrm>
            <a:off x="5120640" y="3246120"/>
            <a:ext cx="3749040" cy="548640"/>
          </a:xfrm>
          <a:prstGeom prst="rect">
            <a:avLst/>
          </a:prstGeom>
          <a:noFill/>
          <a:ln/>
        </p:spPr>
        <p:txBody>
          <a:bodyPr wrap="square" rtlCol="0" anchor="ctr"/>
          <a:lstStyle/>
          <a:p>
            <a:pPr marL="0" indent="0">
              <a:buNone/>
            </a:pPr>
            <a:r>
              <a:rPr lang="en-US" sz="1200" b="1" dirty="0">
                <a:solidFill>
                  <a:srgbClr val="3A6EA5"/>
                </a:solidFill>
              </a:rPr>
              <a:t>Missing metadata
</a:t>
            </a:r>
            <a:r>
              <a:rPr lang="en-US" sz="1000" dirty="0">
                <a:solidFill>
                  <a:srgbClr val="1F2A44"/>
                </a:solidFill>
              </a:rPr>
              <a:t>Breed unknown ≈17%, Color2 missing in over half of cases; gender mostly known but absent for birds.</a:t>
            </a:r>
            <a:endParaRPr lang="en-US" sz="1200" dirty="0"/>
          </a:p>
        </p:txBody>
      </p:sp>
      <p:sp>
        <p:nvSpPr>
          <p:cNvPr id="9" name="Text 3"/>
          <p:cNvSpPr/>
          <p:nvPr/>
        </p:nvSpPr>
        <p:spPr>
          <a:xfrm>
            <a:off x="457200" y="3840480"/>
            <a:ext cx="8229600" cy="548640"/>
          </a:xfrm>
          <a:prstGeom prst="rect">
            <a:avLst/>
          </a:prstGeom>
          <a:noFill/>
          <a:ln/>
        </p:spPr>
        <p:txBody>
          <a:bodyPr wrap="square" rtlCol="0" anchor="ctr"/>
          <a:lstStyle/>
          <a:p>
            <a:pPr marL="0" indent="0">
              <a:buNone/>
            </a:pPr>
            <a:r>
              <a:rPr lang="en-US" sz="1000" b="1" dirty="0">
                <a:solidFill>
                  <a:srgbClr val="1F2A44"/>
                </a:solidFill>
              </a:rPr>
              <a:t>Species‑specific gaps: </a:t>
            </a:r>
            <a:r>
              <a:rPr lang="en-US" sz="1000" dirty="0">
                <a:solidFill>
                  <a:srgbClr val="1F2A44"/>
                </a:solidFill>
              </a:rPr>
              <a:t>dogs &amp; chimps have unknown colours; birds lack gender; small mammals lack breed info.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200" b="1" dirty="0">
                <a:solidFill>
                  <a:srgbClr val="1F2A44"/>
                </a:solidFill>
              </a:rPr>
              <a:t>Challenges &amp; Preprocessing</a:t>
            </a:r>
            <a:endParaRPr lang="en-US" sz="2200" dirty="0"/>
          </a:p>
        </p:txBody>
      </p:sp>
      <p:sp>
        <p:nvSpPr>
          <p:cNvPr id="3" name="Shape 1"/>
          <p:cNvSpPr/>
          <p:nvPr/>
        </p:nvSpPr>
        <p:spPr>
          <a:xfrm>
            <a:off x="365760" y="914400"/>
            <a:ext cx="2834640" cy="1463040"/>
          </a:xfrm>
          <a:prstGeom prst="roundRect">
            <a:avLst/>
          </a:prstGeom>
          <a:solidFill>
            <a:srgbClr val="5DA88B">
              <a:alpha val="85000"/>
            </a:srgbClr>
          </a:solidFill>
          <a:ln w="12700">
            <a:solidFill>
              <a:srgbClr val="5DA88B"/>
            </a:solidFill>
            <a:prstDash val="solid"/>
          </a:ln>
        </p:spPr>
        <p:txBody>
          <a:bodyPr/>
          <a:lstStyle/>
          <a:p>
            <a:endParaRPr/>
          </a:p>
        </p:txBody>
      </p:sp>
      <p:sp>
        <p:nvSpPr>
          <p:cNvPr id="5" name="Text 2"/>
          <p:cNvSpPr/>
          <p:nvPr/>
        </p:nvSpPr>
        <p:spPr>
          <a:xfrm>
            <a:off x="822960" y="960120"/>
            <a:ext cx="2377440" cy="1280160"/>
          </a:xfrm>
          <a:prstGeom prst="rect">
            <a:avLst/>
          </a:prstGeom>
          <a:noFill/>
          <a:ln/>
        </p:spPr>
        <p:txBody>
          <a:bodyPr wrap="square" rtlCol="0" anchor="ctr"/>
          <a:lstStyle/>
          <a:p>
            <a:pPr marL="0" indent="0">
              <a:buNone/>
            </a:pPr>
            <a:r>
              <a:rPr lang="en-US" sz="1200" b="1" dirty="0">
                <a:solidFill>
                  <a:srgbClr val="1F2A44"/>
                </a:solidFill>
              </a:rPr>
              <a:t>Class Imbalance
</a:t>
            </a:r>
            <a:r>
              <a:rPr lang="en-US" sz="1000" dirty="0">
                <a:solidFill>
                  <a:srgbClr val="1F2A44"/>
                </a:solidFill>
              </a:rPr>
              <a:t>Cats/dogs ≫ others; minority species at risk of being ignored.
</a:t>
            </a:r>
            <a:r>
              <a:rPr lang="en-US" sz="900" dirty="0">
                <a:solidFill>
                  <a:srgbClr val="1F2A44"/>
                </a:solidFill>
              </a:rPr>
              <a:t>Mitigate via oversampling minority classes and weighting losses.</a:t>
            </a:r>
            <a:endParaRPr lang="en-US" sz="1200" dirty="0"/>
          </a:p>
        </p:txBody>
      </p:sp>
      <p:sp>
        <p:nvSpPr>
          <p:cNvPr id="6" name="Shape 3"/>
          <p:cNvSpPr/>
          <p:nvPr/>
        </p:nvSpPr>
        <p:spPr>
          <a:xfrm>
            <a:off x="3474720" y="914400"/>
            <a:ext cx="2834640" cy="1463040"/>
          </a:xfrm>
          <a:prstGeom prst="roundRect">
            <a:avLst/>
          </a:prstGeom>
          <a:solidFill>
            <a:srgbClr val="5DA88B">
              <a:alpha val="85000"/>
            </a:srgbClr>
          </a:solidFill>
          <a:ln w="12700">
            <a:solidFill>
              <a:srgbClr val="5DA88B"/>
            </a:solidFill>
            <a:prstDash val="solid"/>
          </a:ln>
        </p:spPr>
        <p:txBody>
          <a:bodyPr/>
          <a:lstStyle/>
          <a:p>
            <a:endParaRPr/>
          </a:p>
        </p:txBody>
      </p:sp>
      <p:sp>
        <p:nvSpPr>
          <p:cNvPr id="8" name="Text 4"/>
          <p:cNvSpPr/>
          <p:nvPr/>
        </p:nvSpPr>
        <p:spPr>
          <a:xfrm>
            <a:off x="3931920" y="960120"/>
            <a:ext cx="2377440" cy="1280160"/>
          </a:xfrm>
          <a:prstGeom prst="rect">
            <a:avLst/>
          </a:prstGeom>
          <a:noFill/>
          <a:ln/>
        </p:spPr>
        <p:txBody>
          <a:bodyPr wrap="square" rtlCol="0" anchor="ctr"/>
          <a:lstStyle/>
          <a:p>
            <a:pPr marL="0" indent="0">
              <a:buNone/>
            </a:pPr>
            <a:r>
              <a:rPr lang="en-US" sz="1200" b="1" dirty="0">
                <a:solidFill>
                  <a:srgbClr val="1F2A44"/>
                </a:solidFill>
              </a:rPr>
              <a:t>Missing Metadata
</a:t>
            </a:r>
            <a:r>
              <a:rPr lang="en-US" sz="1000" dirty="0">
                <a:solidFill>
                  <a:srgbClr val="1F2A44"/>
                </a:solidFill>
              </a:rPr>
              <a:t>High unknown rates in Breed, Color and Gender for specific species.
</a:t>
            </a:r>
            <a:r>
              <a:rPr lang="en-US" sz="900" dirty="0">
                <a:solidFill>
                  <a:srgbClr val="1F2A44"/>
                </a:solidFill>
              </a:rPr>
              <a:t>Exclude unusable fields (e.g., colours for dogs), collapse sparse categories and treat Unknown as an explicit category.</a:t>
            </a:r>
            <a:endParaRPr lang="en-US" sz="1200" dirty="0"/>
          </a:p>
        </p:txBody>
      </p:sp>
      <p:sp>
        <p:nvSpPr>
          <p:cNvPr id="9" name="Shape 5"/>
          <p:cNvSpPr/>
          <p:nvPr/>
        </p:nvSpPr>
        <p:spPr>
          <a:xfrm>
            <a:off x="6583680" y="914400"/>
            <a:ext cx="2377440" cy="1463040"/>
          </a:xfrm>
          <a:prstGeom prst="roundRect">
            <a:avLst/>
          </a:prstGeom>
          <a:solidFill>
            <a:srgbClr val="5DA88B">
              <a:alpha val="85000"/>
            </a:srgbClr>
          </a:solidFill>
          <a:ln w="12700">
            <a:solidFill>
              <a:srgbClr val="5DA88B"/>
            </a:solidFill>
            <a:prstDash val="solid"/>
          </a:ln>
        </p:spPr>
        <p:txBody>
          <a:bodyPr/>
          <a:lstStyle/>
          <a:p>
            <a:endParaRPr/>
          </a:p>
        </p:txBody>
      </p:sp>
      <p:sp>
        <p:nvSpPr>
          <p:cNvPr id="11" name="Text 6"/>
          <p:cNvSpPr/>
          <p:nvPr/>
        </p:nvSpPr>
        <p:spPr>
          <a:xfrm>
            <a:off x="7040880" y="960120"/>
            <a:ext cx="1920240" cy="1280160"/>
          </a:xfrm>
          <a:prstGeom prst="rect">
            <a:avLst/>
          </a:prstGeom>
          <a:noFill/>
          <a:ln/>
        </p:spPr>
        <p:txBody>
          <a:bodyPr wrap="square" rtlCol="0" anchor="ctr"/>
          <a:lstStyle/>
          <a:p>
            <a:pPr marL="0" indent="0">
              <a:buNone/>
            </a:pPr>
            <a:r>
              <a:rPr lang="en-US" sz="1200" b="1" dirty="0">
                <a:solidFill>
                  <a:srgbClr val="1F2A44"/>
                </a:solidFill>
              </a:rPr>
              <a:t>ID &amp; Leakage
</a:t>
            </a:r>
            <a:r>
              <a:rPr lang="en-US" sz="1000" dirty="0">
                <a:solidFill>
                  <a:srgbClr val="1F2A44"/>
                </a:solidFill>
              </a:rPr>
              <a:t>Image record_id differs from annotation Name; multiple images per pet can leak across splits.
</a:t>
            </a:r>
            <a:r>
              <a:rPr lang="en-US" sz="900" dirty="0">
                <a:solidFill>
                  <a:srgbClr val="1F2A44"/>
                </a:solidFill>
              </a:rPr>
              <a:t>Standardise IDs (zero‑pad), stratify splits by record and species to prevent identity leakage.</a:t>
            </a:r>
            <a:endParaRPr lang="en-US" sz="1200" dirty="0"/>
          </a:p>
        </p:txBody>
      </p:sp>
      <p:sp>
        <p:nvSpPr>
          <p:cNvPr id="12" name="Text 7"/>
          <p:cNvSpPr/>
          <p:nvPr/>
        </p:nvSpPr>
        <p:spPr>
          <a:xfrm>
            <a:off x="457200" y="2560320"/>
            <a:ext cx="8686800" cy="1097280"/>
          </a:xfrm>
          <a:prstGeom prst="rect">
            <a:avLst/>
          </a:prstGeom>
          <a:noFill/>
          <a:ln/>
        </p:spPr>
        <p:txBody>
          <a:bodyPr wrap="square" rtlCol="0" anchor="ctr"/>
          <a:lstStyle/>
          <a:p>
            <a:pPr marL="0" indent="0">
              <a:buNone/>
            </a:pPr>
            <a:r>
              <a:rPr lang="en-US" sz="1200" b="1" dirty="0">
                <a:solidFill>
                  <a:srgbClr val="3A6EA5"/>
                </a:solidFill>
              </a:rPr>
              <a:t>Additional Steps
</a:t>
            </a:r>
            <a:r>
              <a:rPr lang="en-US" sz="900" dirty="0">
                <a:solidFill>
                  <a:srgbClr val="1F2A44"/>
                </a:solidFill>
              </a:rPr>
              <a:t>• Use canonical ID map and record‑level splitting
• Stratify by species/breed for balanced sets
• Apply light augmentations: flips, small rotations, colour jitter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200" b="1" dirty="0">
                <a:solidFill>
                  <a:srgbClr val="1F2A44"/>
                </a:solidFill>
              </a:rPr>
              <a:t>Two‑Stage Modelling Pipeline</a:t>
            </a:r>
            <a:endParaRPr lang="en-US" sz="2200" dirty="0"/>
          </a:p>
        </p:txBody>
      </p:sp>
      <p:sp>
        <p:nvSpPr>
          <p:cNvPr id="3" name="Shape 1"/>
          <p:cNvSpPr/>
          <p:nvPr/>
        </p:nvSpPr>
        <p:spPr>
          <a:xfrm>
            <a:off x="731520" y="1280160"/>
            <a:ext cx="2743200" cy="914400"/>
          </a:xfrm>
          <a:prstGeom prst="roundRect">
            <a:avLst/>
          </a:prstGeom>
          <a:solidFill>
            <a:srgbClr val="3A6EA5">
              <a:alpha val="90000"/>
            </a:srgbClr>
          </a:solidFill>
          <a:ln w="12700">
            <a:solidFill>
              <a:srgbClr val="3A6EA5"/>
            </a:solidFill>
            <a:prstDash val="solid"/>
          </a:ln>
        </p:spPr>
        <p:txBody>
          <a:bodyPr/>
          <a:lstStyle/>
          <a:p>
            <a:endParaRPr/>
          </a:p>
        </p:txBody>
      </p:sp>
      <p:sp>
        <p:nvSpPr>
          <p:cNvPr id="4" name="Text 2"/>
          <p:cNvSpPr/>
          <p:nvPr/>
        </p:nvSpPr>
        <p:spPr>
          <a:xfrm>
            <a:off x="731520" y="1280160"/>
            <a:ext cx="2743200" cy="914400"/>
          </a:xfrm>
          <a:prstGeom prst="rect">
            <a:avLst/>
          </a:prstGeom>
          <a:noFill/>
          <a:ln/>
        </p:spPr>
        <p:txBody>
          <a:bodyPr wrap="square" rtlCol="0" anchor="ctr"/>
          <a:lstStyle/>
          <a:p>
            <a:pPr marL="0" indent="0" algn="ctr">
              <a:buNone/>
            </a:pPr>
            <a:r>
              <a:rPr lang="en-US" sz="1200" b="1" dirty="0">
                <a:solidFill>
                  <a:srgbClr val="F5F8FA"/>
                </a:solidFill>
              </a:rPr>
              <a:t>Stage 1
</a:t>
            </a:r>
            <a:r>
              <a:rPr lang="en-US" sz="1000" dirty="0">
                <a:solidFill>
                  <a:srgbClr val="F5F8FA"/>
                </a:solidFill>
              </a:rPr>
              <a:t>ResNet‑18 species classifier</a:t>
            </a:r>
            <a:endParaRPr lang="en-US" sz="1200" dirty="0"/>
          </a:p>
        </p:txBody>
      </p:sp>
      <p:sp>
        <p:nvSpPr>
          <p:cNvPr id="5" name="Shape 3"/>
          <p:cNvSpPr/>
          <p:nvPr/>
        </p:nvSpPr>
        <p:spPr>
          <a:xfrm>
            <a:off x="3474720" y="1645920"/>
            <a:ext cx="548640" cy="274320"/>
          </a:xfrm>
          <a:prstGeom prst="rightArrow">
            <a:avLst/>
          </a:prstGeom>
          <a:solidFill>
            <a:srgbClr val="5DA88B"/>
          </a:solidFill>
          <a:ln w="12700">
            <a:solidFill>
              <a:srgbClr val="5DA88B"/>
            </a:solidFill>
            <a:prstDash val="solid"/>
          </a:ln>
        </p:spPr>
        <p:txBody>
          <a:bodyPr/>
          <a:lstStyle/>
          <a:p>
            <a:endParaRPr/>
          </a:p>
        </p:txBody>
      </p:sp>
      <p:sp>
        <p:nvSpPr>
          <p:cNvPr id="6" name="Shape 4"/>
          <p:cNvSpPr/>
          <p:nvPr/>
        </p:nvSpPr>
        <p:spPr>
          <a:xfrm>
            <a:off x="4114800" y="1097280"/>
            <a:ext cx="4114800" cy="1280160"/>
          </a:xfrm>
          <a:prstGeom prst="roundRect">
            <a:avLst/>
          </a:prstGeom>
          <a:solidFill>
            <a:srgbClr val="3A6EA5">
              <a:alpha val="90000"/>
            </a:srgbClr>
          </a:solidFill>
          <a:ln w="12700">
            <a:solidFill>
              <a:srgbClr val="3A6EA5"/>
            </a:solidFill>
            <a:prstDash val="solid"/>
          </a:ln>
        </p:spPr>
        <p:txBody>
          <a:bodyPr/>
          <a:lstStyle/>
          <a:p>
            <a:endParaRPr/>
          </a:p>
        </p:txBody>
      </p:sp>
      <p:sp>
        <p:nvSpPr>
          <p:cNvPr id="7" name="Text 5"/>
          <p:cNvSpPr/>
          <p:nvPr/>
        </p:nvSpPr>
        <p:spPr>
          <a:xfrm>
            <a:off x="4114800" y="1097280"/>
            <a:ext cx="4114800" cy="1280160"/>
          </a:xfrm>
          <a:prstGeom prst="rect">
            <a:avLst/>
          </a:prstGeom>
          <a:noFill/>
          <a:ln/>
        </p:spPr>
        <p:txBody>
          <a:bodyPr wrap="square" rtlCol="0" anchor="ctr"/>
          <a:lstStyle/>
          <a:p>
            <a:pPr marL="0" indent="0" algn="ctr">
              <a:buNone/>
            </a:pPr>
            <a:r>
              <a:rPr lang="en-US" sz="1200" b="1" dirty="0">
                <a:solidFill>
                  <a:srgbClr val="F5F8FA"/>
                </a:solidFill>
              </a:rPr>
              <a:t>Stage 2
</a:t>
            </a:r>
            <a:r>
              <a:rPr lang="en-US" sz="1000" dirty="0">
                <a:solidFill>
                  <a:srgbClr val="F5F8FA"/>
                </a:solidFill>
              </a:rPr>
              <a:t>Species‑specific ResNet‑18</a:t>
            </a:r>
            <a:endParaRPr lang="en-US" sz="1200" dirty="0"/>
          </a:p>
          <a:p>
            <a:pPr marL="0" indent="0" algn="ctr">
              <a:buNone/>
            </a:pPr>
            <a:r>
              <a:rPr lang="en-US" sz="1000" i="1" dirty="0">
                <a:solidFill>
                  <a:srgbClr val="F5F8FA"/>
                </a:solidFill>
              </a:rPr>
              <a:t>Multi‑head: Breed, Colour, Gender</a:t>
            </a:r>
            <a:endParaRPr lang="en-US" sz="1200" dirty="0"/>
          </a:p>
        </p:txBody>
      </p:sp>
      <p:sp>
        <p:nvSpPr>
          <p:cNvPr id="8" name="Text 6"/>
          <p:cNvSpPr/>
          <p:nvPr/>
        </p:nvSpPr>
        <p:spPr>
          <a:xfrm>
            <a:off x="640080" y="2743200"/>
            <a:ext cx="7772400" cy="1280160"/>
          </a:xfrm>
          <a:prstGeom prst="rect">
            <a:avLst/>
          </a:prstGeom>
          <a:noFill/>
          <a:ln/>
        </p:spPr>
        <p:txBody>
          <a:bodyPr wrap="square" rtlCol="0" anchor="ctr"/>
          <a:lstStyle/>
          <a:p>
            <a:pPr marL="0" indent="0">
              <a:buNone/>
            </a:pPr>
            <a:r>
              <a:rPr lang="en-US" sz="1200" b="1" dirty="0">
                <a:solidFill>
                  <a:srgbClr val="3A6EA5"/>
                </a:solidFill>
              </a:rPr>
              <a:t>Inference flow:
</a:t>
            </a:r>
            <a:r>
              <a:rPr lang="en-US" sz="1000" dirty="0">
                <a:solidFill>
                  <a:srgbClr val="1F2A44"/>
                </a:solidFill>
              </a:rPr>
              <a:t>1. Stage 1 predicts one of 13 species.</a:t>
            </a:r>
            <a:endParaRPr lang="en-US" sz="1200" dirty="0"/>
          </a:p>
          <a:p>
            <a:pPr marL="0" indent="0">
              <a:buNone/>
            </a:pPr>
            <a:r>
              <a:rPr lang="en-US" sz="1000" dirty="0">
                <a:solidFill>
                  <a:srgbClr val="1F2A44"/>
                </a:solidFill>
              </a:rPr>
              <a:t>2. Based on the species, select the corresponding specialist model.</a:t>
            </a:r>
            <a:endParaRPr lang="en-US" sz="1200" dirty="0"/>
          </a:p>
          <a:p>
            <a:pPr marL="0" indent="0">
              <a:buNone/>
            </a:pPr>
            <a:r>
              <a:rPr lang="en-US" sz="1000" dirty="0">
                <a:solidFill>
                  <a:srgbClr val="1F2A44"/>
                </a:solidFill>
              </a:rPr>
              <a:t>3. The specialist outputs breed, primary and secondary colours and gender.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200" b="1" dirty="0">
                <a:solidFill>
                  <a:srgbClr val="1F2A44"/>
                </a:solidFill>
              </a:rPr>
              <a:t>Training Strategy &amp; Augmentations</a:t>
            </a:r>
            <a:endParaRPr lang="en-US" sz="2200" dirty="0"/>
          </a:p>
        </p:txBody>
      </p:sp>
      <p:sp>
        <p:nvSpPr>
          <p:cNvPr id="4" name="Text 1"/>
          <p:cNvSpPr/>
          <p:nvPr/>
        </p:nvSpPr>
        <p:spPr>
          <a:xfrm>
            <a:off x="822960" y="960120"/>
            <a:ext cx="4206240" cy="914400"/>
          </a:xfrm>
          <a:prstGeom prst="rect">
            <a:avLst/>
          </a:prstGeom>
          <a:noFill/>
          <a:ln/>
        </p:spPr>
        <p:txBody>
          <a:bodyPr wrap="square" rtlCol="0" anchor="ctr"/>
          <a:lstStyle/>
          <a:p>
            <a:pPr marL="0" indent="0">
              <a:buNone/>
            </a:pPr>
            <a:r>
              <a:rPr lang="en-US" sz="1200" b="1" dirty="0">
                <a:solidFill>
                  <a:srgbClr val="3A6EA5"/>
                </a:solidFill>
              </a:rPr>
              <a:t>Split &amp; Sampling
</a:t>
            </a:r>
            <a:r>
              <a:rPr lang="en-US" sz="900" dirty="0">
                <a:solidFill>
                  <a:srgbClr val="1F2A44"/>
                </a:solidFill>
              </a:rPr>
              <a:t>• 80/10/10 split per record to avoid identity leakage
• WeightedRandomSampler over‑samples minority species (cap ×3)
• Adaptive sampling updates weights from confusion matrix after each epoch</a:t>
            </a:r>
            <a:endParaRPr lang="en-US" sz="1200" dirty="0"/>
          </a:p>
        </p:txBody>
      </p:sp>
      <p:sp>
        <p:nvSpPr>
          <p:cNvPr id="6" name="Text 2"/>
          <p:cNvSpPr/>
          <p:nvPr/>
        </p:nvSpPr>
        <p:spPr>
          <a:xfrm>
            <a:off x="822960" y="1965960"/>
            <a:ext cx="4206240" cy="1280160"/>
          </a:xfrm>
          <a:prstGeom prst="rect">
            <a:avLst/>
          </a:prstGeom>
          <a:noFill/>
          <a:ln/>
        </p:spPr>
        <p:txBody>
          <a:bodyPr wrap="square" rtlCol="0" anchor="ctr"/>
          <a:lstStyle/>
          <a:p>
            <a:pPr marL="0" indent="0">
              <a:buNone/>
            </a:pPr>
            <a:r>
              <a:rPr lang="en-US" sz="1200" b="1" dirty="0">
                <a:solidFill>
                  <a:srgbClr val="3A6EA5"/>
                </a:solidFill>
              </a:rPr>
              <a:t>Augmentations
</a:t>
            </a:r>
            <a:r>
              <a:rPr lang="en-US" sz="900" dirty="0">
                <a:solidFill>
                  <a:srgbClr val="1F2A44"/>
                </a:solidFill>
              </a:rPr>
              <a:t>• Base: random flip, colour jitter, small affine distortions, random erasing
• Tail classes: stronger jitter, optional RandAugment, higher erasing probability• All images normalised; inputs are 224×224 RGB PNG</a:t>
            </a:r>
            <a:endParaRPr lang="en-US" sz="1200" dirty="0"/>
          </a:p>
        </p:txBody>
      </p:sp>
      <p:sp>
        <p:nvSpPr>
          <p:cNvPr id="9" name="Text 5"/>
          <p:cNvSpPr/>
          <p:nvPr/>
        </p:nvSpPr>
        <p:spPr>
          <a:xfrm>
            <a:off x="5303520" y="1005840"/>
            <a:ext cx="3383280" cy="182880"/>
          </a:xfrm>
          <a:prstGeom prst="rect">
            <a:avLst/>
          </a:prstGeom>
          <a:noFill/>
          <a:ln/>
        </p:spPr>
        <p:txBody>
          <a:bodyPr wrap="square" rtlCol="0" anchor="ctr"/>
          <a:lstStyle/>
          <a:p>
            <a:pPr marL="0" indent="0" algn="l">
              <a:buNone/>
            </a:pPr>
            <a:r>
              <a:rPr lang="en-US" sz="1000" i="1" dirty="0">
                <a:solidFill>
                  <a:srgbClr val="F5F8FA"/>
                </a:solidFill>
              </a:rPr>
              <a:t>Weighted Sampling (PyTorch)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200" b="1" dirty="0">
                <a:solidFill>
                  <a:srgbClr val="1F2A44"/>
                </a:solidFill>
              </a:rPr>
              <a:t>Stage 1 Results: Species Classification</a:t>
            </a:r>
            <a:endParaRPr lang="en-US" sz="2200" dirty="0"/>
          </a:p>
        </p:txBody>
      </p:sp>
      <p:graphicFrame>
        <p:nvGraphicFramePr>
          <p:cNvPr id="3" name="Chart 0"/>
          <p:cNvGraphicFramePr/>
          <p:nvPr/>
        </p:nvGraphicFramePr>
        <p:xfrm>
          <a:off x="457200" y="1005840"/>
          <a:ext cx="47548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669280" y="1371600"/>
            <a:ext cx="2743200" cy="1645920"/>
          </a:xfrm>
          <a:prstGeom prst="ellipse">
            <a:avLst/>
          </a:prstGeom>
          <a:solidFill>
            <a:srgbClr val="5DA88B">
              <a:alpha val="90000"/>
            </a:srgbClr>
          </a:solidFill>
          <a:ln w="12700">
            <a:solidFill>
              <a:srgbClr val="5DA88B"/>
            </a:solidFill>
            <a:prstDash val="solid"/>
          </a:ln>
        </p:spPr>
        <p:txBody>
          <a:bodyPr/>
          <a:lstStyle/>
          <a:p>
            <a:endParaRPr/>
          </a:p>
        </p:txBody>
      </p:sp>
      <p:sp>
        <p:nvSpPr>
          <p:cNvPr id="6" name="Text 2"/>
          <p:cNvSpPr/>
          <p:nvPr/>
        </p:nvSpPr>
        <p:spPr>
          <a:xfrm>
            <a:off x="6126480" y="1463040"/>
            <a:ext cx="2286000" cy="1463040"/>
          </a:xfrm>
          <a:prstGeom prst="rect">
            <a:avLst/>
          </a:prstGeom>
          <a:noFill/>
          <a:ln/>
        </p:spPr>
        <p:txBody>
          <a:bodyPr wrap="square" rtlCol="0" anchor="ctr"/>
          <a:lstStyle/>
          <a:p>
            <a:pPr marL="0" indent="0" algn="l">
              <a:buNone/>
            </a:pPr>
            <a:r>
              <a:rPr lang="en-US" sz="1200" b="1" dirty="0">
                <a:solidFill>
                  <a:srgbClr val="1F2A44"/>
                </a:solidFill>
              </a:rPr>
              <a:t>Overall Accuracy
</a:t>
            </a:r>
            <a:r>
              <a:rPr lang="en-US" sz="1800" b="1" dirty="0">
                <a:solidFill>
                  <a:srgbClr val="3A6EA5"/>
                </a:solidFill>
              </a:rPr>
              <a:t>99.82%
</a:t>
            </a:r>
            <a:r>
              <a:rPr lang="en-US" sz="1000" i="1" dirty="0">
                <a:solidFill>
                  <a:srgbClr val="1F2A44"/>
                </a:solidFill>
              </a:rPr>
              <a:t>Min–max: 97–100%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200" b="1" dirty="0">
                <a:solidFill>
                  <a:srgbClr val="1F2A44"/>
                </a:solidFill>
              </a:rPr>
              <a:t>Stage 2 Results: Attribute Prediction</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2037772548"/>
              </p:ext>
            </p:extLst>
          </p:nvPr>
        </p:nvGraphicFramePr>
        <p:xfrm>
          <a:off x="457200" y="1005840"/>
          <a:ext cx="8229601" cy="1950720"/>
        </p:xfrm>
        <a:graphic>
          <a:graphicData uri="http://schemas.openxmlformats.org/drawingml/2006/table">
            <a:tbl>
              <a:tblPr/>
              <a:tblGrid>
                <a:gridCol w="1126156">
                  <a:extLst>
                    <a:ext uri="{9D8B030D-6E8A-4147-A177-3AD203B41FA5}">
                      <a16:colId xmlns:a16="http://schemas.microsoft.com/office/drawing/2014/main" val="20000"/>
                    </a:ext>
                  </a:extLst>
                </a:gridCol>
                <a:gridCol w="1559293">
                  <a:extLst>
                    <a:ext uri="{9D8B030D-6E8A-4147-A177-3AD203B41FA5}">
                      <a16:colId xmlns:a16="http://schemas.microsoft.com/office/drawing/2014/main" val="20001"/>
                    </a:ext>
                  </a:extLst>
                </a:gridCol>
                <a:gridCol w="1819175">
                  <a:extLst>
                    <a:ext uri="{9D8B030D-6E8A-4147-A177-3AD203B41FA5}">
                      <a16:colId xmlns:a16="http://schemas.microsoft.com/office/drawing/2014/main" val="20002"/>
                    </a:ext>
                  </a:extLst>
                </a:gridCol>
                <a:gridCol w="1819175">
                  <a:extLst>
                    <a:ext uri="{9D8B030D-6E8A-4147-A177-3AD203B41FA5}">
                      <a16:colId xmlns:a16="http://schemas.microsoft.com/office/drawing/2014/main" val="20003"/>
                    </a:ext>
                  </a:extLst>
                </a:gridCol>
                <a:gridCol w="1905802">
                  <a:extLst>
                    <a:ext uri="{9D8B030D-6E8A-4147-A177-3AD203B41FA5}">
                      <a16:colId xmlns:a16="http://schemas.microsoft.com/office/drawing/2014/main" val="20004"/>
                    </a:ext>
                  </a:extLst>
                </a:gridCol>
              </a:tblGrid>
              <a:tr h="365760">
                <a:tc>
                  <a:txBody>
                    <a:bodyPr/>
                    <a:lstStyle/>
                    <a:p>
                      <a:pPr marL="0" indent="0" algn="ctr">
                        <a:buNone/>
                      </a:pP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3A6EA5"/>
                    </a:solidFill>
                  </a:tcPr>
                </a:tc>
                <a:tc>
                  <a:txBody>
                    <a:bodyPr/>
                    <a:lstStyle/>
                    <a:p>
                      <a:pPr marL="0" indent="0" algn="ctr">
                        <a:buNone/>
                      </a:pPr>
                      <a:r>
                        <a:rPr lang="en-US" sz="1000" b="1" dirty="0">
                          <a:solidFill>
                            <a:srgbClr val="F5F8FA"/>
                          </a:solidFill>
                        </a:rPr>
                        <a:t>Global Accuracy</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3A6EA5"/>
                    </a:solidFill>
                  </a:tcPr>
                </a:tc>
                <a:tc>
                  <a:txBody>
                    <a:bodyPr/>
                    <a:lstStyle/>
                    <a:p>
                      <a:pPr marL="0" indent="0" algn="ctr">
                        <a:buNone/>
                      </a:pPr>
                      <a:r>
                        <a:rPr lang="en-US" sz="1000" b="1" dirty="0">
                          <a:solidFill>
                            <a:srgbClr val="F5F8FA"/>
                          </a:solidFill>
                        </a:rPr>
                        <a:t>Best Species</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3A6EA5"/>
                    </a:solidFill>
                  </a:tcPr>
                </a:tc>
                <a:tc>
                  <a:txBody>
                    <a:bodyPr/>
                    <a:lstStyle/>
                    <a:p>
                      <a:pPr marL="0" indent="0" algn="ctr">
                        <a:buNone/>
                      </a:pPr>
                      <a:r>
                        <a:rPr lang="en-US" sz="1000" b="1" dirty="0">
                          <a:solidFill>
                            <a:srgbClr val="F5F8FA"/>
                          </a:solidFill>
                        </a:rPr>
                        <a:t>Worst Species</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3A6EA5"/>
                    </a:solidFill>
                  </a:tcPr>
                </a:tc>
                <a:tc>
                  <a:txBody>
                    <a:bodyPr/>
                    <a:lstStyle/>
                    <a:p>
                      <a:pPr marL="0" indent="0" algn="ctr">
                        <a:buNone/>
                      </a:pPr>
                      <a:r>
                        <a:rPr lang="en-US" sz="1000" b="1" dirty="0">
                          <a:solidFill>
                            <a:srgbClr val="F5F8FA"/>
                          </a:solidFill>
                        </a:rPr>
                        <a:t>Observation</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3A6EA5"/>
                    </a:solidFill>
                  </a:tcPr>
                </a:tc>
                <a:extLst>
                  <a:ext uri="{0D108BD9-81ED-4DB2-BD59-A6C34878D82A}">
                    <a16:rowId xmlns:a16="http://schemas.microsoft.com/office/drawing/2014/main" val="10000"/>
                  </a:ext>
                </a:extLst>
              </a:tr>
              <a:tr h="320040">
                <a:tc>
                  <a:txBody>
                    <a:bodyPr/>
                    <a:lstStyle/>
                    <a:p>
                      <a:pPr marL="0" indent="0" algn="ctr">
                        <a:buNone/>
                      </a:pPr>
                      <a:r>
                        <a:rPr lang="en-US" sz="1000" b="1" dirty="0">
                          <a:solidFill>
                            <a:srgbClr val="000000"/>
                          </a:solidFill>
                        </a:rPr>
                        <a:t>Breed</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84.9%</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Hamster 97.4%</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Chimp 55.6%</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Rich labels for cats/dogs; small mammals have unknown breeds</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extLst>
                  <a:ext uri="{0D108BD9-81ED-4DB2-BD59-A6C34878D82A}">
                    <a16:rowId xmlns:a16="http://schemas.microsoft.com/office/drawing/2014/main" val="10001"/>
                  </a:ext>
                </a:extLst>
              </a:tr>
              <a:tr h="320040">
                <a:tc>
                  <a:txBody>
                    <a:bodyPr/>
                    <a:lstStyle/>
                    <a:p>
                      <a:pPr marL="0" indent="0" algn="ctr">
                        <a:buNone/>
                      </a:pPr>
                      <a:r>
                        <a:rPr lang="en-US" sz="1000" b="1" dirty="0">
                          <a:solidFill>
                            <a:srgbClr val="000000"/>
                          </a:solidFill>
                        </a:rPr>
                        <a:t>Colour1</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83.1%</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Hedgehog 91.7%</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Degus 62.7%</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Primary colour strong except for species with missing data</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extLst>
                  <a:ext uri="{0D108BD9-81ED-4DB2-BD59-A6C34878D82A}">
                    <a16:rowId xmlns:a16="http://schemas.microsoft.com/office/drawing/2014/main" val="10002"/>
                  </a:ext>
                </a:extLst>
              </a:tr>
              <a:tr h="320040">
                <a:tc>
                  <a:txBody>
                    <a:bodyPr/>
                    <a:lstStyle/>
                    <a:p>
                      <a:pPr marL="0" indent="0" algn="ctr">
                        <a:buNone/>
                      </a:pPr>
                      <a:r>
                        <a:rPr lang="en-US" sz="1000" b="1" dirty="0">
                          <a:solidFill>
                            <a:srgbClr val="000000"/>
                          </a:solidFill>
                        </a:rPr>
                        <a:t>Colour2</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77.2%</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Chinchilla 95.6%</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Degus 67.9%</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Secondary colour often unknown or absent</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extLst>
                  <a:ext uri="{0D108BD9-81ED-4DB2-BD59-A6C34878D82A}">
                    <a16:rowId xmlns:a16="http://schemas.microsoft.com/office/drawing/2014/main" val="10003"/>
                  </a:ext>
                </a:extLst>
              </a:tr>
              <a:tr h="320040">
                <a:tc>
                  <a:txBody>
                    <a:bodyPr/>
                    <a:lstStyle/>
                    <a:p>
                      <a:pPr marL="0" indent="0" algn="ctr">
                        <a:buNone/>
                      </a:pPr>
                      <a:r>
                        <a:rPr lang="en-US" sz="1000" b="1" dirty="0">
                          <a:solidFill>
                            <a:srgbClr val="000000"/>
                          </a:solidFill>
                        </a:rPr>
                        <a:t>Gender</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65.3%</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Javasparrow 84.2%</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Degus 50.4%</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tc>
                  <a:txBody>
                    <a:bodyPr/>
                    <a:lstStyle/>
                    <a:p>
                      <a:pPr marL="0" indent="0" algn="ctr">
                        <a:buNone/>
                      </a:pPr>
                      <a:r>
                        <a:rPr lang="en-US" sz="1000" dirty="0">
                          <a:solidFill>
                            <a:srgbClr val="000000"/>
                          </a:solidFill>
                        </a:rPr>
                        <a:t>Gender is the hardest due to limited labels and subtle cues</a:t>
                      </a:r>
                      <a:endParaRPr lang="en-US" sz="1000" dirty="0"/>
                    </a:p>
                  </a:txBody>
                  <a:tcPr anchor="ctr">
                    <a:lnL w="6350" cap="flat" cmpd="sng" algn="ctr">
                      <a:solidFill>
                        <a:srgbClr val="F5F8FA"/>
                      </a:solidFill>
                      <a:prstDash val="solid"/>
                      <a:round/>
                      <a:headEnd type="none" w="med" len="med"/>
                      <a:tailEnd type="none" w="med" len="med"/>
                    </a:lnL>
                    <a:lnR w="6350" cap="flat" cmpd="sng" algn="ctr">
                      <a:solidFill>
                        <a:srgbClr val="F5F8FA"/>
                      </a:solidFill>
                      <a:prstDash val="solid"/>
                      <a:round/>
                      <a:headEnd type="none" w="med" len="med"/>
                      <a:tailEnd type="none" w="med" len="med"/>
                    </a:lnR>
                    <a:lnT w="6350" cap="flat" cmpd="sng" algn="ctr">
                      <a:solidFill>
                        <a:srgbClr val="F5F8FA"/>
                      </a:solidFill>
                      <a:prstDash val="solid"/>
                      <a:round/>
                      <a:headEnd type="none" w="med" len="med"/>
                      <a:tailEnd type="none" w="med" len="med"/>
                    </a:lnT>
                    <a:lnB w="6350" cap="flat" cmpd="sng" algn="ctr">
                      <a:solidFill>
                        <a:srgbClr val="F5F8FA"/>
                      </a:solidFill>
                      <a:prstDash val="solid"/>
                      <a:round/>
                      <a:headEnd type="none" w="med" len="med"/>
                      <a:tailEnd type="none" w="med" len="med"/>
                    </a:lnB>
                    <a:solidFill>
                      <a:srgbClr val="F5F8FA"/>
                    </a:solidFill>
                  </a:tcPr>
                </a:tc>
                <a:extLst>
                  <a:ext uri="{0D108BD9-81ED-4DB2-BD59-A6C34878D82A}">
                    <a16:rowId xmlns:a16="http://schemas.microsoft.com/office/drawing/2014/main" val="10004"/>
                  </a:ext>
                </a:extLst>
              </a:tr>
            </a:tbl>
          </a:graphicData>
        </a:graphic>
      </p:graphicFrame>
      <p:sp>
        <p:nvSpPr>
          <p:cNvPr id="5" name="Text 1"/>
          <p:cNvSpPr/>
          <p:nvPr/>
        </p:nvSpPr>
        <p:spPr>
          <a:xfrm>
            <a:off x="914400" y="3063240"/>
            <a:ext cx="5943600" cy="640080"/>
          </a:xfrm>
          <a:prstGeom prst="rect">
            <a:avLst/>
          </a:prstGeom>
          <a:noFill/>
          <a:ln/>
        </p:spPr>
        <p:txBody>
          <a:bodyPr wrap="square" rtlCol="0" anchor="ctr"/>
          <a:lstStyle/>
          <a:p>
            <a:pPr marL="0" indent="0">
              <a:buNone/>
            </a:pPr>
            <a:r>
              <a:rPr lang="en-US" sz="1100" b="1" dirty="0">
                <a:solidFill>
                  <a:srgbClr val="3A6EA5"/>
                </a:solidFill>
              </a:rPr>
              <a:t>Cat/Dog Snapshot
</a:t>
            </a:r>
            <a:r>
              <a:rPr lang="en-US" sz="900" dirty="0">
                <a:solidFill>
                  <a:srgbClr val="1F2A44"/>
                </a:solidFill>
              </a:rPr>
              <a:t>Cats: Breed 88.4%, Colour1 83.9%, Colour2 77.0%, Gender 67.3%
Dogs: Breed 76.8%, Gender 61.0%</a:t>
            </a:r>
            <a:endParaRPr lang="en-US" sz="1100" dirty="0"/>
          </a:p>
        </p:txBody>
      </p:sp>
      <p:sp>
        <p:nvSpPr>
          <p:cNvPr id="7" name="Text 2"/>
          <p:cNvSpPr/>
          <p:nvPr/>
        </p:nvSpPr>
        <p:spPr>
          <a:xfrm>
            <a:off x="5496560" y="3063240"/>
            <a:ext cx="2011680" cy="640080"/>
          </a:xfrm>
          <a:prstGeom prst="rect">
            <a:avLst/>
          </a:prstGeom>
          <a:noFill/>
          <a:ln/>
        </p:spPr>
        <p:txBody>
          <a:bodyPr wrap="square" rtlCol="0" anchor="ctr"/>
          <a:lstStyle/>
          <a:p>
            <a:pPr marL="0" indent="0">
              <a:buNone/>
            </a:pPr>
            <a:r>
              <a:rPr lang="en-US" sz="1100" b="1" dirty="0">
                <a:solidFill>
                  <a:srgbClr val="1F2A44"/>
                </a:solidFill>
              </a:rPr>
              <a:t>Gender is the bottleneck
</a:t>
            </a:r>
            <a:r>
              <a:rPr lang="en-US" sz="900" dirty="0">
                <a:solidFill>
                  <a:srgbClr val="1F2A44"/>
                </a:solidFill>
              </a:rPr>
              <a:t>High missingness and subtle visual cues limit performance.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200" b="1" dirty="0">
                <a:solidFill>
                  <a:srgbClr val="1F2A44"/>
                </a:solidFill>
              </a:rPr>
              <a:t>Interpretation &amp; Future Work</a:t>
            </a:r>
            <a:endParaRPr lang="en-US" sz="2200" dirty="0"/>
          </a:p>
        </p:txBody>
      </p:sp>
      <p:sp>
        <p:nvSpPr>
          <p:cNvPr id="4" name="Text 1"/>
          <p:cNvSpPr/>
          <p:nvPr/>
        </p:nvSpPr>
        <p:spPr>
          <a:xfrm>
            <a:off x="822960" y="914400"/>
            <a:ext cx="4206240" cy="2194560"/>
          </a:xfrm>
          <a:prstGeom prst="rect">
            <a:avLst/>
          </a:prstGeom>
          <a:noFill/>
          <a:ln/>
        </p:spPr>
        <p:txBody>
          <a:bodyPr wrap="square" rtlCol="0" anchor="ctr"/>
          <a:lstStyle/>
          <a:p>
            <a:pPr marL="0" indent="0">
              <a:buNone/>
            </a:pPr>
            <a:r>
              <a:rPr lang="en-US" sz="1200" b="1" dirty="0">
                <a:solidFill>
                  <a:srgbClr val="3A6EA5"/>
                </a:solidFill>
              </a:rPr>
              <a:t>Key Interpretations
</a:t>
            </a:r>
            <a:r>
              <a:rPr lang="en-US" sz="900" dirty="0">
                <a:solidFill>
                  <a:srgbClr val="1F2A44"/>
                </a:solidFill>
              </a:rPr>
              <a:t>• Species classification is essentially solved (≈99.8% accurate).
• Breed &amp; colour predictions are strong but not perfect; performance correlates with label completeness.
• Gender is the limiting factor—labels are scarce and visual differences subtle.
• Careful data hygiene (ID standardisation, stratified splits) and tailored sampling are critical.</a:t>
            </a:r>
            <a:endParaRPr lang="en-US" sz="1200" dirty="0"/>
          </a:p>
        </p:txBody>
      </p:sp>
      <p:sp>
        <p:nvSpPr>
          <p:cNvPr id="6" name="Text 2"/>
          <p:cNvSpPr/>
          <p:nvPr/>
        </p:nvSpPr>
        <p:spPr>
          <a:xfrm>
            <a:off x="5577840" y="914400"/>
            <a:ext cx="3108960" cy="2194560"/>
          </a:xfrm>
          <a:prstGeom prst="rect">
            <a:avLst/>
          </a:prstGeom>
          <a:noFill/>
          <a:ln/>
        </p:spPr>
        <p:txBody>
          <a:bodyPr wrap="square" rtlCol="0" anchor="ctr"/>
          <a:lstStyle/>
          <a:p>
            <a:pPr marL="0" indent="0">
              <a:buNone/>
            </a:pPr>
            <a:r>
              <a:rPr lang="en-US" sz="1200" b="1" dirty="0">
                <a:solidFill>
                  <a:srgbClr val="3A6EA5"/>
                </a:solidFill>
              </a:rPr>
              <a:t>Future Directions
</a:t>
            </a:r>
            <a:r>
              <a:rPr lang="en-US" sz="900" dirty="0">
                <a:solidFill>
                  <a:srgbClr val="1F2A44"/>
                </a:solidFill>
              </a:rPr>
              <a:t>• Integrate species and attribute tasks into a single multi‑task network.
• Leverage pretrained backbones (e.g., ResNet50, ViT) for richer representations.
• Employ record‑level aggregation: aggregate predictions across multiple images of the same pet.
• Explore semi‑supervised or self‑supervised methods to learn from unlabelled images and infer gender more robustly.
• Augment minority classes through synthetic data or style transfer.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200" b="1" dirty="0">
                <a:solidFill>
                  <a:srgbClr val="1F2A44"/>
                </a:solidFill>
              </a:rPr>
              <a:t>Conclusion &amp; Takeaways</a:t>
            </a:r>
            <a:endParaRPr lang="en-US" sz="2200" dirty="0"/>
          </a:p>
        </p:txBody>
      </p:sp>
      <p:sp>
        <p:nvSpPr>
          <p:cNvPr id="4" name="Text 1"/>
          <p:cNvSpPr/>
          <p:nvPr/>
        </p:nvSpPr>
        <p:spPr>
          <a:xfrm>
            <a:off x="822960" y="960120"/>
            <a:ext cx="5943600" cy="1828800"/>
          </a:xfrm>
          <a:prstGeom prst="rect">
            <a:avLst/>
          </a:prstGeom>
          <a:noFill/>
          <a:ln/>
        </p:spPr>
        <p:txBody>
          <a:bodyPr wrap="square" rtlCol="0" anchor="ctr"/>
          <a:lstStyle/>
          <a:p>
            <a:pPr marL="0" indent="0">
              <a:buNone/>
            </a:pPr>
            <a:r>
              <a:rPr lang="en-US" sz="1200" b="1" dirty="0">
                <a:solidFill>
                  <a:srgbClr val="3A6EA5"/>
                </a:solidFill>
              </a:rPr>
              <a:t>Key Takeaways
</a:t>
            </a:r>
            <a:r>
              <a:rPr lang="en-US" sz="900" dirty="0">
                <a:solidFill>
                  <a:srgbClr val="1F2A44"/>
                </a:solidFill>
              </a:rPr>
              <a:t>• Robust data hygiene and stratified sampling are foundational to success.
• A two‑stage ResNet pipeline solves species classification and delivers strong attribute predictions.
• Gender remains challenging; targeted data collection and modelling could narrow this gap.
• The PetFace dataset is fertile ground for experimentation: there’s still room to push boundaries.</a:t>
            </a:r>
            <a:endParaRPr lang="en-US" sz="1200" dirty="0"/>
          </a:p>
        </p:txBody>
      </p:sp>
      <p:pic>
        <p:nvPicPr>
          <p:cNvPr id="6" name="Image 1" descr="preencoded.png"/>
          <p:cNvPicPr>
            <a:picLocks noChangeAspect="1"/>
          </p:cNvPicPr>
          <p:nvPr/>
        </p:nvPicPr>
        <p:blipFill>
          <a:blip r:embed="rId3"/>
          <a:stretch>
            <a:fillRect/>
          </a:stretch>
        </p:blipFill>
        <p:spPr>
          <a:xfrm>
            <a:off x="5825066" y="2479040"/>
            <a:ext cx="274320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3528</Words>
  <Application>Microsoft Office PowerPoint</Application>
  <PresentationFormat>Custom</PresentationFormat>
  <Paragraphs>120</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Bruce DeSimas</cp:lastModifiedBy>
  <cp:revision>3</cp:revision>
  <dcterms:created xsi:type="dcterms:W3CDTF">2025-11-29T16:39:45Z</dcterms:created>
  <dcterms:modified xsi:type="dcterms:W3CDTF">2025-11-29T23:13:12Z</dcterms:modified>
</cp:coreProperties>
</file>